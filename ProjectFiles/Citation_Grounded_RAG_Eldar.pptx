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r>
              <a:rPr lang="en-US"/>
              <a:t>Hit Rate @4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Hit Rate @4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Dense</c:v>
                </c:pt>
                <c:pt idx="1">
                  <c:v>Sparse</c:v>
                </c:pt>
                <c:pt idx="2">
                  <c:v>Hybrid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94.3</c:v>
                </c:pt>
                <c:pt idx="1">
                  <c:v>97.1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EC-4A48-9106-0B07B30F29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2"/>
          <c:min val="9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  <c:majorUnit val="2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r>
              <a:rPr lang="en-US"/>
              <a:t>MRR @4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MRR @4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Dense</c:v>
                </c:pt>
                <c:pt idx="1">
                  <c:v>Sparse</c:v>
                </c:pt>
                <c:pt idx="2">
                  <c:v>Hybrid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0.85240000000000005</c:v>
                </c:pt>
                <c:pt idx="1">
                  <c:v>0.89759999999999995</c:v>
                </c:pt>
                <c:pt idx="2">
                  <c:v>0.9214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DB-431A-9A9B-EF3269B671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95"/>
          <c:min val="0.8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  <c:majorUnit val="0.05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ight Divider Slide - 3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9A254AA-18E4-9DAC-4282-5464EB9B85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1151" y="0"/>
            <a:ext cx="5827131" cy="6858000"/>
          </a:xfrm>
          <a:custGeom>
            <a:avLst/>
            <a:gdLst>
              <a:gd name="connsiteX0" fmla="*/ 11151 w 5827131"/>
              <a:gd name="connsiteY0" fmla="*/ 0 h 6858000"/>
              <a:gd name="connsiteX1" fmla="*/ 28558 w 5827131"/>
              <a:gd name="connsiteY1" fmla="*/ 0 h 6858000"/>
              <a:gd name="connsiteX2" fmla="*/ 5080039 w 5827131"/>
              <a:gd name="connsiteY2" fmla="*/ 0 h 6858000"/>
              <a:gd name="connsiteX3" fmla="*/ 5792826 w 5827131"/>
              <a:gd name="connsiteY3" fmla="*/ 0 h 6858000"/>
              <a:gd name="connsiteX4" fmla="*/ 5157788 w 5827131"/>
              <a:gd name="connsiteY4" fmla="*/ 3796113 h 6858000"/>
              <a:gd name="connsiteX5" fmla="*/ 5827131 w 5827131"/>
              <a:gd name="connsiteY5" fmla="*/ 6858000 h 6858000"/>
              <a:gd name="connsiteX6" fmla="*/ 5080039 w 5827131"/>
              <a:gd name="connsiteY6" fmla="*/ 6858000 h 6858000"/>
              <a:gd name="connsiteX7" fmla="*/ 1779734 w 5827131"/>
              <a:gd name="connsiteY7" fmla="*/ 6858000 h 6858000"/>
              <a:gd name="connsiteX8" fmla="*/ 11151 w 5827131"/>
              <a:gd name="connsiteY8" fmla="*/ 6858000 h 6858000"/>
              <a:gd name="connsiteX9" fmla="*/ 11151 w 5827131"/>
              <a:gd name="connsiteY9" fmla="*/ 6853666 h 6858000"/>
              <a:gd name="connsiteX10" fmla="*/ 0 w 5827131"/>
              <a:gd name="connsiteY10" fmla="*/ 6853638 h 6858000"/>
              <a:gd name="connsiteX11" fmla="*/ 11151 w 5827131"/>
              <a:gd name="connsiteY11" fmla="*/ 41775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27131" h="6858000">
                <a:moveTo>
                  <a:pt x="11151" y="0"/>
                </a:moveTo>
                <a:lnTo>
                  <a:pt x="28558" y="0"/>
                </a:lnTo>
                <a:lnTo>
                  <a:pt x="5080039" y="0"/>
                </a:lnTo>
                <a:lnTo>
                  <a:pt x="5792826" y="0"/>
                </a:lnTo>
                <a:lnTo>
                  <a:pt x="5157788" y="3796113"/>
                </a:lnTo>
                <a:lnTo>
                  <a:pt x="5827131" y="6858000"/>
                </a:lnTo>
                <a:lnTo>
                  <a:pt x="5080039" y="6858000"/>
                </a:lnTo>
                <a:lnTo>
                  <a:pt x="1779734" y="6858000"/>
                </a:lnTo>
                <a:lnTo>
                  <a:pt x="11151" y="6858000"/>
                </a:lnTo>
                <a:lnTo>
                  <a:pt x="11151" y="6853666"/>
                </a:lnTo>
                <a:lnTo>
                  <a:pt x="0" y="6853638"/>
                </a:lnTo>
                <a:lnTo>
                  <a:pt x="11151" y="41775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8B87D74-DF91-5D9B-2ADA-143B3D15D3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7652" y="5827395"/>
            <a:ext cx="1954059" cy="487304"/>
          </a:xfrm>
          <a:prstGeom prst="rect">
            <a:avLst/>
          </a:prstGeom>
        </p:spPr>
      </p:pic>
      <p:sp>
        <p:nvSpPr>
          <p:cNvPr id="6" name="2. Subtitle Placeholder">
            <a:extLst>
              <a:ext uri="{FF2B5EF4-FFF2-40B4-BE49-F238E27FC236}">
                <a16:creationId xmlns:a16="http://schemas.microsoft.com/office/drawing/2014/main" id="{47DD63DB-696E-1F57-4651-369A131C6B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1569436"/>
            <a:ext cx="5518130" cy="38722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sp>
        <p:nvSpPr>
          <p:cNvPr id="7" name="2. Title Placeholder">
            <a:extLst>
              <a:ext uri="{FF2B5EF4-FFF2-40B4-BE49-F238E27FC236}">
                <a16:creationId xmlns:a16="http://schemas.microsoft.com/office/drawing/2014/main" id="{A4CA4673-AD06-EB19-133A-E588BE05FE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543301"/>
            <a:ext cx="5518130" cy="534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822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.cs.bham.ac.uk/projects-2025-26/exd462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8084264" cy="23391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182742"/>
                </a:solidFill>
                <a:latin typeface="Aptos Display"/>
              </a:defRPr>
            </a:pPr>
            <a:r>
              <a:rPr dirty="0" smtClean="0"/>
              <a:t>Citation</a:t>
            </a:r>
            <a:r>
              <a:rPr lang="en-US" dirty="0" smtClean="0"/>
              <a:t> </a:t>
            </a:r>
            <a:r>
              <a:rPr dirty="0" smtClean="0"/>
              <a:t>Grounded </a:t>
            </a:r>
            <a:r>
              <a:rPr dirty="0"/>
              <a:t>Retrieval System</a:t>
            </a:r>
            <a:br>
              <a:rPr dirty="0"/>
            </a:br>
            <a:r>
              <a:rPr dirty="0"/>
              <a:t>for University Regulations</a:t>
            </a:r>
          </a:p>
          <a:p>
            <a:pPr>
              <a:defRPr sz="1400">
                <a:solidFill>
                  <a:srgbClr val="5C6573"/>
                </a:solidFill>
                <a:latin typeface="Aptos"/>
              </a:defRPr>
            </a:pPr>
            <a:r>
              <a:rPr sz="1600" dirty="0" smtClean="0"/>
              <a:t>Eldar</a:t>
            </a:r>
            <a:r>
              <a:rPr lang="en-US" sz="1600" dirty="0" smtClean="0"/>
              <a:t> Dikhanbayev</a:t>
            </a:r>
            <a:r>
              <a:rPr sz="1600" dirty="0" smtClean="0"/>
              <a:t>  </a:t>
            </a:r>
            <a:r>
              <a:rPr sz="1600" dirty="0"/>
              <a:t>•  MSc / Computer Science </a:t>
            </a:r>
            <a:r>
              <a:rPr sz="1600" dirty="0" smtClean="0"/>
              <a:t>Project</a:t>
            </a:r>
            <a:endParaRPr lang="en-US" sz="1600" dirty="0" smtClean="0"/>
          </a:p>
          <a:p>
            <a:pPr>
              <a:defRPr sz="1400">
                <a:solidFill>
                  <a:srgbClr val="5C6573"/>
                </a:solidFill>
                <a:latin typeface="Aptos"/>
              </a:defRPr>
            </a:pPr>
            <a:endParaRPr lang="en-US" sz="1600" dirty="0" smtClean="0"/>
          </a:p>
          <a:p>
            <a:pPr>
              <a:defRPr sz="1400">
                <a:solidFill>
                  <a:srgbClr val="5C6573"/>
                </a:solidFill>
                <a:latin typeface="Aptos"/>
              </a:defRPr>
            </a:pPr>
            <a:r>
              <a:rPr lang="en-US" sz="1600" dirty="0">
                <a:hlinkClick r:id="rId2"/>
              </a:rPr>
              <a:t>https://git.cs.bham.ac.uk/projects-2025-26/exd462</a:t>
            </a:r>
            <a:endParaRPr lang="en-US" sz="1600" dirty="0"/>
          </a:p>
          <a:p>
            <a:pPr>
              <a:defRPr sz="1400">
                <a:solidFill>
                  <a:srgbClr val="5C6573"/>
                </a:solidFill>
                <a:latin typeface="Aptos"/>
              </a:defRPr>
            </a:pPr>
            <a:endParaRPr sz="1600"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402336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rPr dirty="0"/>
              <a:t>Domain</a:t>
            </a:r>
          </a:p>
          <a:p>
            <a:pPr>
              <a:spcBef>
                <a:spcPts val="700"/>
              </a:spcBef>
              <a:defRPr sz="1200">
                <a:solidFill>
                  <a:srgbClr val="262D38"/>
                </a:solidFill>
                <a:latin typeface="Aptos"/>
              </a:defRPr>
            </a:pPr>
            <a:r>
              <a:rPr lang="en-US" sz="1400" dirty="0" smtClean="0"/>
              <a:t>Birmingham university, Computer Science </a:t>
            </a:r>
            <a:r>
              <a:rPr sz="1400" dirty="0" smtClean="0"/>
              <a:t>student </a:t>
            </a:r>
            <a:r>
              <a:rPr sz="1400" dirty="0"/>
              <a:t>handbook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023360"/>
            <a:ext cx="64008" cy="1051560"/>
          </a:xfrm>
          <a:prstGeom prst="rect">
            <a:avLst/>
          </a:prstGeom>
          <a:solidFill>
            <a:srgbClr val="2A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51960" y="402336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Approach</a:t>
            </a:r>
          </a:p>
          <a:p>
            <a:pPr>
              <a:spcBef>
                <a:spcPts val="700"/>
              </a:spcBef>
              <a:defRPr sz="1200">
                <a:solidFill>
                  <a:srgbClr val="262D38"/>
                </a:solidFill>
                <a:latin typeface="Aptos"/>
              </a:defRPr>
            </a:pPr>
            <a:r>
              <a:rPr sz="1400"/>
              <a:t>Hybrid retrieval + RBAC + citations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4023360"/>
            <a:ext cx="64008" cy="105156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0" y="402336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rPr dirty="0"/>
              <a:t>Evaluation</a:t>
            </a:r>
          </a:p>
          <a:p>
            <a:pPr>
              <a:spcBef>
                <a:spcPts val="700"/>
              </a:spcBef>
              <a:defRPr sz="1200">
                <a:solidFill>
                  <a:srgbClr val="262D38"/>
                </a:solidFill>
                <a:latin typeface="Aptos"/>
              </a:defRPr>
            </a:pPr>
            <a:r>
              <a:rPr sz="1400" dirty="0"/>
              <a:t>35-query </a:t>
            </a:r>
            <a:r>
              <a:rPr sz="1400" dirty="0" smtClean="0"/>
              <a:t>retrieval</a:t>
            </a:r>
            <a:r>
              <a:rPr lang="en-US" sz="1400" dirty="0" smtClean="0"/>
              <a:t> test</a:t>
            </a:r>
            <a:r>
              <a:rPr sz="1400" dirty="0" smtClean="0"/>
              <a:t> </a:t>
            </a:r>
            <a:r>
              <a:rPr sz="1400" dirty="0"/>
              <a:t>+ 16-query RAGAS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4023360"/>
            <a:ext cx="64008" cy="1051560"/>
          </a:xfrm>
          <a:prstGeom prst="rect">
            <a:avLst/>
          </a:prstGeom>
          <a:solidFill>
            <a:srgbClr val="367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0" y="65836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57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331"/>
            <a:ext cx="12192000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742"/>
                </a:solidFill>
                <a:latin typeface="Aptos Display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58047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  <a:latin typeface="Aptos"/>
              </a:defRPr>
            </a:pPr>
            <a:r>
              <a:rPr sz="1600" b="1" dirty="0"/>
              <a:t>Why university regulations are difficult to retrieve reliably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46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800" b="1">
                <a:solidFill>
                  <a:srgbClr val="182742"/>
                </a:solidFill>
                <a:latin typeface="Aptos Display"/>
              </a:defRPr>
            </a:pPr>
            <a:r>
              <a:rPr sz="2000" dirty="0"/>
              <a:t>Large and fragmented corpus</a:t>
            </a:r>
          </a:p>
          <a:p>
            <a:pPr>
              <a:spcBef>
                <a:spcPts val="700"/>
              </a:spcBef>
              <a:defRPr sz="1500">
                <a:solidFill>
                  <a:srgbClr val="262D38"/>
                </a:solidFill>
                <a:latin typeface="Aptos"/>
              </a:defRPr>
            </a:pPr>
            <a:r>
              <a:rPr sz="1600" dirty="0"/>
              <a:t>Policies, regulations and handbooks contain large volumes of structured information.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347472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60520" y="1417320"/>
            <a:ext cx="3246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800" b="1">
                <a:solidFill>
                  <a:srgbClr val="182742"/>
                </a:solidFill>
                <a:latin typeface="Aptos Display"/>
              </a:defRPr>
            </a:pPr>
            <a:r>
              <a:rPr sz="2000"/>
              <a:t>Precise terminology</a:t>
            </a:r>
          </a:p>
          <a:p>
            <a:pPr>
              <a:spcBef>
                <a:spcPts val="700"/>
              </a:spcBef>
              <a:defRPr sz="1500">
                <a:solidFill>
                  <a:srgbClr val="262D38"/>
                </a:solidFill>
                <a:latin typeface="Aptos"/>
              </a:defRPr>
            </a:pPr>
            <a:r>
              <a:rPr sz="1600"/>
              <a:t>Module codes, regulation identifiers, acronyms and cross-references require exact matching.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417320"/>
            <a:ext cx="64008" cy="3474720"/>
          </a:xfrm>
          <a:prstGeom prst="rect">
            <a:avLst/>
          </a:prstGeom>
          <a:solidFill>
            <a:srgbClr val="2A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635240" y="1417320"/>
            <a:ext cx="3246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800" b="1">
                <a:solidFill>
                  <a:srgbClr val="182742"/>
                </a:solidFill>
                <a:latin typeface="Aptos Display"/>
              </a:defRPr>
            </a:pPr>
            <a:r>
              <a:rPr sz="2000"/>
              <a:t>High cost of error</a:t>
            </a:r>
          </a:p>
          <a:p>
            <a:pPr>
              <a:spcBef>
                <a:spcPts val="700"/>
              </a:spcBef>
              <a:defRPr sz="1500">
                <a:solidFill>
                  <a:srgbClr val="262D38"/>
                </a:solidFill>
                <a:latin typeface="Aptos"/>
              </a:defRPr>
            </a:pPr>
            <a:r>
              <a:rPr sz="1600"/>
              <a:t>Unsupported answers can mislead students or staff and are difficult to audit.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1417320"/>
            <a:ext cx="64008" cy="3474720"/>
          </a:xfrm>
          <a:prstGeom prst="rect">
            <a:avLst/>
          </a:prstGeom>
          <a:solidFill>
            <a:srgbClr val="A87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828800" y="5257800"/>
            <a:ext cx="2468880" cy="84442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400" b="1">
                <a:solidFill>
                  <a:srgbClr val="182742"/>
                </a:solidFill>
                <a:latin typeface="Aptos Display"/>
              </a:defRPr>
            </a:pPr>
            <a:r>
              <a:rPr sz="1600" dirty="0"/>
              <a:t>Keyword search</a:t>
            </a:r>
          </a:p>
          <a:p>
            <a:pPr>
              <a:spcBef>
                <a:spcPts val="700"/>
              </a:spcBef>
              <a:defRPr sz="1100">
                <a:solidFill>
                  <a:srgbClr val="262D38"/>
                </a:solidFill>
                <a:latin typeface="Aptos"/>
              </a:defRPr>
            </a:pPr>
            <a:r>
              <a:rPr sz="1200" dirty="0"/>
              <a:t>Good at exact terms; weak on meaning.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5257800"/>
            <a:ext cx="64008" cy="658368"/>
          </a:xfrm>
          <a:prstGeom prst="rect">
            <a:avLst/>
          </a:prstGeom>
          <a:solidFill>
            <a:srgbClr val="5C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4434840" y="5449824"/>
            <a:ext cx="411480" cy="256032"/>
          </a:xfrm>
          <a:prstGeom prst="rightArrow">
            <a:avLst/>
          </a:prstGeom>
          <a:solidFill>
            <a:srgbClr val="5C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92040" y="5257800"/>
            <a:ext cx="2468880" cy="84442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400" b="1">
                <a:solidFill>
                  <a:srgbClr val="182742"/>
                </a:solidFill>
                <a:latin typeface="Aptos Display"/>
              </a:defRPr>
            </a:pPr>
            <a:r>
              <a:rPr sz="1600" dirty="0"/>
              <a:t>Ungrounded LLM</a:t>
            </a:r>
          </a:p>
          <a:p>
            <a:pPr>
              <a:spcBef>
                <a:spcPts val="700"/>
              </a:spcBef>
              <a:defRPr sz="1100">
                <a:solidFill>
                  <a:srgbClr val="262D38"/>
                </a:solidFill>
                <a:latin typeface="Aptos"/>
              </a:defRPr>
            </a:pPr>
            <a:r>
              <a:rPr sz="1200" dirty="0"/>
              <a:t>Good dialogue; may invent policy.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5257800"/>
            <a:ext cx="64008" cy="658368"/>
          </a:xfrm>
          <a:prstGeom prst="rect">
            <a:avLst/>
          </a:prstGeom>
          <a:solidFill>
            <a:srgbClr val="5C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7498079" y="5449824"/>
            <a:ext cx="411480" cy="256032"/>
          </a:xfrm>
          <a:prstGeom prst="rightArrow">
            <a:avLst/>
          </a:prstGeom>
          <a:solidFill>
            <a:srgbClr val="5C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955279" y="5257800"/>
            <a:ext cx="2468880" cy="84442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400" b="1">
                <a:solidFill>
                  <a:srgbClr val="182742"/>
                </a:solidFill>
                <a:latin typeface="Aptos Display"/>
              </a:defRPr>
            </a:pPr>
            <a:r>
              <a:rPr sz="1600" dirty="0"/>
              <a:t>Need</a:t>
            </a:r>
          </a:p>
          <a:p>
            <a:pPr>
              <a:spcBef>
                <a:spcPts val="700"/>
              </a:spcBef>
              <a:defRPr sz="1100">
                <a:solidFill>
                  <a:srgbClr val="262D38"/>
                </a:solidFill>
                <a:latin typeface="Aptos"/>
              </a:defRPr>
            </a:pPr>
            <a:r>
              <a:rPr sz="1200" dirty="0"/>
              <a:t>Grounded + traceable + access-aware assistant.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5257800"/>
            <a:ext cx="64008" cy="658368"/>
          </a:xfrm>
          <a:prstGeom prst="rect">
            <a:avLst/>
          </a:prstGeom>
          <a:solidFill>
            <a:srgbClr val="367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0" y="65836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5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742"/>
                </a:solidFill>
                <a:latin typeface="Aptos Display"/>
              </a:rPr>
              <a:t>Research gap and hypotheses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425949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  <a:latin typeface="Aptos"/>
              </a:defRPr>
            </a:pPr>
            <a:r>
              <a:rPr sz="1600" b="1" dirty="0"/>
              <a:t>Three testable claims drive the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700" b="1">
                <a:solidFill>
                  <a:srgbClr val="182742"/>
                </a:solidFill>
                <a:latin typeface="Aptos Display"/>
              </a:defRPr>
            </a:pPr>
            <a:r>
              <a:t>H1 — Hybrid retrieval</a:t>
            </a:r>
          </a:p>
          <a:p>
            <a:pPr>
              <a:spcBef>
                <a:spcPts val="700"/>
              </a:spcBef>
              <a:defRPr sz="1200">
                <a:solidFill>
                  <a:srgbClr val="262D38"/>
                </a:solidFill>
                <a:latin typeface="Aptos"/>
              </a:defRPr>
            </a:pPr>
            <a:r>
              <a:t>Dense + BM25 will outperform dense-only retrieval, especially for exact identifiers and acronyms.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123444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700" b="1">
                <a:solidFill>
                  <a:srgbClr val="182742"/>
                </a:solidFill>
                <a:latin typeface="Aptos Display"/>
              </a:defRPr>
            </a:pPr>
            <a:r>
              <a:t>H2 — Controlled fusion</a:t>
            </a:r>
          </a:p>
          <a:p>
            <a:pPr>
              <a:spcBef>
                <a:spcPts val="700"/>
              </a:spcBef>
              <a:defRPr sz="1200">
                <a:solidFill>
                  <a:srgbClr val="262D38"/>
                </a:solidFill>
                <a:latin typeface="Aptos"/>
              </a:defRPr>
            </a:pPr>
            <a:r>
              <a:t>Controlled hybrid ranking will achieve higher top-k Hit Rate than sparse BM25 alone.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788920"/>
            <a:ext cx="64008" cy="1234440"/>
          </a:xfrm>
          <a:prstGeom prst="rect">
            <a:avLst/>
          </a:prstGeom>
          <a:solidFill>
            <a:srgbClr val="2A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425196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700" b="1">
                <a:solidFill>
                  <a:srgbClr val="182742"/>
                </a:solidFill>
                <a:latin typeface="Aptos Display"/>
              </a:defRPr>
            </a:pPr>
            <a:r>
              <a:t>H3 — Query condensation</a:t>
            </a:r>
          </a:p>
          <a:p>
            <a:pPr>
              <a:spcBef>
                <a:spcPts val="700"/>
              </a:spcBef>
              <a:defRPr sz="1200">
                <a:solidFill>
                  <a:srgbClr val="262D38"/>
                </a:solidFill>
                <a:latin typeface="Aptos"/>
              </a:defRPr>
            </a:pPr>
            <a:r>
              <a:t>Condensation will improve retrieval for multi-turn queries while preserving key entities and constraints.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251960"/>
            <a:ext cx="64008" cy="1234440"/>
          </a:xfrm>
          <a:prstGeom prst="rect">
            <a:avLst/>
          </a:prstGeom>
          <a:solidFill>
            <a:srgbClr val="367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26280" y="1325880"/>
            <a:ext cx="6400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t"/>
          <a:lstStyle/>
          <a:p>
            <a:pPr algn="ctr">
              <a:defRPr sz="2200" b="1">
                <a:solidFill>
                  <a:srgbClr val="182742"/>
                </a:solidFill>
                <a:latin typeface="Aptos Display"/>
              </a:defRPr>
            </a:pPr>
            <a:endParaRPr lang="en-US" dirty="0" smtClean="0"/>
          </a:p>
          <a:p>
            <a:pPr algn="ctr">
              <a:defRPr sz="2200" b="1">
                <a:solidFill>
                  <a:srgbClr val="182742"/>
                </a:solidFill>
                <a:latin typeface="Aptos Display"/>
              </a:defRPr>
            </a:pPr>
            <a:r>
              <a:rPr dirty="0" smtClean="0"/>
              <a:t>Research </a:t>
            </a:r>
            <a:r>
              <a:rPr dirty="0"/>
              <a:t>objective</a:t>
            </a:r>
          </a:p>
          <a:p>
            <a:pPr>
              <a:spcBef>
                <a:spcPts val="700"/>
              </a:spcBef>
              <a:defRPr sz="1700">
                <a:solidFill>
                  <a:srgbClr val="262D38"/>
                </a:solidFill>
                <a:latin typeface="Aptos"/>
              </a:defRPr>
            </a:pPr>
            <a:r>
              <a:rPr dirty="0"/>
              <a:t>Design and evaluate a citation-grounded academic regulations assistant that improves retrieval reliability </a:t>
            </a:r>
            <a:r>
              <a:rPr dirty="0" smtClean="0"/>
              <a:t>and</a:t>
            </a:r>
            <a:r>
              <a:rPr lang="en-US" dirty="0" smtClean="0"/>
              <a:t> source</a:t>
            </a:r>
            <a:r>
              <a:rPr dirty="0" smtClean="0"/>
              <a:t> </a:t>
            </a:r>
            <a:r>
              <a:rPr dirty="0"/>
              <a:t>traceability while enforcing role-based access control.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325880"/>
            <a:ext cx="64008" cy="4160520"/>
          </a:xfrm>
          <a:prstGeom prst="rect">
            <a:avLst/>
          </a:prstGeom>
          <a:solidFill>
            <a:srgbClr val="18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92040" y="3657600"/>
            <a:ext cx="16916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500" b="1">
                <a:solidFill>
                  <a:srgbClr val="182742"/>
                </a:solidFill>
                <a:latin typeface="Aptos Display"/>
              </a:defRPr>
            </a:pPr>
            <a:r>
              <a:t>Compare</a:t>
            </a:r>
          </a:p>
          <a:p>
            <a:pPr>
              <a:spcBef>
                <a:spcPts val="700"/>
              </a:spcBef>
              <a:defRPr sz="1200">
                <a:solidFill>
                  <a:srgbClr val="262D38"/>
                </a:solidFill>
                <a:latin typeface="Aptos"/>
              </a:defRPr>
            </a:pPr>
            <a:r>
              <a:t>Dense</a:t>
            </a:r>
            <a:br/>
            <a:r>
              <a:t>Sparse</a:t>
            </a:r>
            <a:br/>
            <a:r>
              <a:t>Hybrid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3657600"/>
            <a:ext cx="64008" cy="109728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903720" y="3657600"/>
            <a:ext cx="16916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500" b="1">
                <a:solidFill>
                  <a:srgbClr val="182742"/>
                </a:solidFill>
                <a:latin typeface="Aptos Display"/>
              </a:defRPr>
            </a:pPr>
            <a:r>
              <a:t>Measure</a:t>
            </a:r>
          </a:p>
          <a:p>
            <a:pPr>
              <a:spcBef>
                <a:spcPts val="700"/>
              </a:spcBef>
              <a:defRPr sz="1200">
                <a:solidFill>
                  <a:srgbClr val="262D38"/>
                </a:solidFill>
                <a:latin typeface="Aptos"/>
              </a:defRPr>
            </a:pPr>
            <a:r>
              <a:t>Hit Rate</a:t>
            </a:r>
            <a:br/>
            <a:r>
              <a:t>MRR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3657600"/>
            <a:ext cx="64008" cy="1097280"/>
          </a:xfrm>
          <a:prstGeom prst="rect">
            <a:avLst/>
          </a:prstGeom>
          <a:solidFill>
            <a:srgbClr val="2A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915400" y="3657600"/>
            <a:ext cx="16916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500" b="1">
                <a:solidFill>
                  <a:srgbClr val="182742"/>
                </a:solidFill>
                <a:latin typeface="Aptos Display"/>
              </a:defRPr>
            </a:pPr>
            <a:r>
              <a:t>Validate</a:t>
            </a:r>
          </a:p>
          <a:p>
            <a:pPr>
              <a:spcBef>
                <a:spcPts val="700"/>
              </a:spcBef>
              <a:defRPr sz="1200">
                <a:solidFill>
                  <a:srgbClr val="262D38"/>
                </a:solidFill>
                <a:latin typeface="Aptos"/>
              </a:defRPr>
            </a:pPr>
            <a:r>
              <a:t>RAGAS</a:t>
            </a:r>
            <a:br/>
            <a:r>
              <a:t>+ failure cases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3657600"/>
            <a:ext cx="64008" cy="1097280"/>
          </a:xfrm>
          <a:prstGeom prst="rect">
            <a:avLst/>
          </a:prstGeom>
          <a:solidFill>
            <a:srgbClr val="367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0" y="65836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5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742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47355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  <a:latin typeface="Aptos"/>
              </a:defRPr>
            </a:pPr>
            <a:r>
              <a:rPr sz="1400" b="1"/>
              <a:t>From monolithic prototype to service-oriented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700" b="1">
                <a:solidFill>
                  <a:srgbClr val="182742"/>
                </a:solidFill>
                <a:latin typeface="Aptos Display"/>
              </a:defRPr>
            </a:pPr>
            <a:r>
              <a:rPr lang="en-US" dirty="0" smtClean="0"/>
              <a:t>User</a:t>
            </a:r>
            <a:endParaRPr dirty="0"/>
          </a:p>
          <a:p>
            <a:pPr>
              <a:spcBef>
                <a:spcPts val="700"/>
              </a:spcBef>
              <a:defRPr sz="1200">
                <a:solidFill>
                  <a:srgbClr val="262D38"/>
                </a:solidFill>
                <a:latin typeface="Aptos"/>
              </a:defRPr>
            </a:pPr>
            <a:r>
              <a:rPr dirty="0" smtClean="0"/>
              <a:t> </a:t>
            </a:r>
            <a:r>
              <a:rPr lang="en-US" dirty="0" smtClean="0"/>
              <a:t>B</a:t>
            </a:r>
            <a:r>
              <a:rPr dirty="0" smtClean="0"/>
              <a:t>rowser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91440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ight Arrow 6"/>
          <p:cNvSpPr/>
          <p:nvPr/>
        </p:nvSpPr>
        <p:spPr>
          <a:xfrm>
            <a:off x="2880360" y="1645920"/>
            <a:ext cx="411480" cy="274320"/>
          </a:xfrm>
          <a:prstGeom prst="rightArrow">
            <a:avLst/>
          </a:prstGeom>
          <a:solidFill>
            <a:srgbClr val="5C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29000" y="123444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700" b="1">
                <a:solidFill>
                  <a:srgbClr val="182742"/>
                </a:solidFill>
                <a:latin typeface="Aptos Display"/>
              </a:defRPr>
            </a:pPr>
            <a:r>
              <a:rPr dirty="0"/>
              <a:t>API / Routing</a:t>
            </a:r>
          </a:p>
          <a:p>
            <a:pPr>
              <a:spcBef>
                <a:spcPts val="700"/>
              </a:spcBef>
              <a:defRPr sz="1200">
                <a:solidFill>
                  <a:srgbClr val="262D38"/>
                </a:solidFill>
                <a:latin typeface="Aptos"/>
              </a:defRPr>
            </a:pPr>
            <a:r>
              <a:rPr dirty="0"/>
              <a:t>Flask + service endpoints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234440"/>
            <a:ext cx="64008" cy="1097280"/>
          </a:xfrm>
          <a:prstGeom prst="rect">
            <a:avLst/>
          </a:prstGeom>
          <a:solidFill>
            <a:srgbClr val="2A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5897880" y="1645920"/>
            <a:ext cx="411480" cy="274320"/>
          </a:xfrm>
          <a:prstGeom prst="rightArrow">
            <a:avLst/>
          </a:prstGeom>
          <a:solidFill>
            <a:srgbClr val="5C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46520" y="1097280"/>
            <a:ext cx="2148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700" b="1">
                <a:solidFill>
                  <a:srgbClr val="182742"/>
                </a:solidFill>
                <a:latin typeface="Aptos Display"/>
              </a:defRPr>
            </a:pPr>
            <a:r>
              <a:rPr dirty="0"/>
              <a:t>Application services</a:t>
            </a:r>
          </a:p>
          <a:p>
            <a:pPr>
              <a:spcBef>
                <a:spcPts val="700"/>
              </a:spcBef>
              <a:defRPr sz="1100">
                <a:solidFill>
                  <a:srgbClr val="262D38"/>
                </a:solidFill>
                <a:latin typeface="Aptos"/>
              </a:defRPr>
            </a:pPr>
            <a:r>
              <a:rPr dirty="0" err="1"/>
              <a:t>Auth</a:t>
            </a:r>
            <a:r>
              <a:rPr dirty="0"/>
              <a:t> • Chat </a:t>
            </a:r>
            <a:r>
              <a:rPr dirty="0" smtClean="0"/>
              <a:t> </a:t>
            </a:r>
            <a:r>
              <a:rPr dirty="0"/>
              <a:t>• </a:t>
            </a:r>
            <a:r>
              <a:rPr dirty="0" smtClean="0"/>
              <a:t>Admin</a:t>
            </a:r>
            <a:endParaRPr lang="en-US" dirty="0" smtClean="0"/>
          </a:p>
          <a:p>
            <a:pPr>
              <a:spcBef>
                <a:spcPts val="700"/>
              </a:spcBef>
              <a:defRPr sz="1100">
                <a:solidFill>
                  <a:srgbClr val="262D38"/>
                </a:solidFill>
                <a:latin typeface="Aptos"/>
              </a:defRPr>
            </a:pPr>
            <a:r>
              <a:rPr lang="en-US" dirty="0" smtClean="0"/>
              <a:t>Services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6446520" y="1097280"/>
            <a:ext cx="64008" cy="132588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8823960" y="1645920"/>
            <a:ext cx="411480" cy="274320"/>
          </a:xfrm>
          <a:prstGeom prst="rightArrow">
            <a:avLst/>
          </a:prstGeom>
          <a:solidFill>
            <a:srgbClr val="5C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372600" y="105156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700" b="1">
                <a:solidFill>
                  <a:srgbClr val="182742"/>
                </a:solidFill>
                <a:latin typeface="Aptos Display"/>
              </a:defRPr>
            </a:pPr>
            <a:r>
              <a:t>RAG engine</a:t>
            </a:r>
          </a:p>
          <a:p>
            <a:pPr>
              <a:spcBef>
                <a:spcPts val="700"/>
              </a:spcBef>
              <a:defRPr sz="1100">
                <a:solidFill>
                  <a:srgbClr val="262D38"/>
                </a:solidFill>
                <a:latin typeface="Aptos"/>
              </a:defRPr>
            </a:pPr>
            <a:r>
              <a:t>Condense • Retrieve • Fuse • Cite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72600" y="1051560"/>
            <a:ext cx="64008" cy="1417320"/>
          </a:xfrm>
          <a:prstGeom prst="rect">
            <a:avLst/>
          </a:prstGeom>
          <a:solidFill>
            <a:srgbClr val="367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5840" y="315468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rPr dirty="0"/>
              <a:t>Relational storage</a:t>
            </a:r>
          </a:p>
          <a:p>
            <a:pPr>
              <a:spcBef>
                <a:spcPts val="700"/>
              </a:spcBef>
              <a:defRPr sz="1200">
                <a:solidFill>
                  <a:srgbClr val="262D38"/>
                </a:solidFill>
                <a:latin typeface="Aptos"/>
              </a:defRPr>
            </a:pPr>
            <a:r>
              <a:rPr dirty="0"/>
              <a:t>Users • roles • documents • metadata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154680"/>
            <a:ext cx="64008" cy="1143000"/>
          </a:xfrm>
          <a:prstGeom prst="rect">
            <a:avLst/>
          </a:prstGeom>
          <a:solidFill>
            <a:srgbClr val="5C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43400" y="315468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Vector / lexical storage</a:t>
            </a:r>
          </a:p>
          <a:p>
            <a:pPr>
              <a:spcBef>
                <a:spcPts val="700"/>
              </a:spcBef>
              <a:defRPr sz="1200">
                <a:solidFill>
                  <a:srgbClr val="262D38"/>
                </a:solidFill>
                <a:latin typeface="Aptos"/>
              </a:defRPr>
            </a:pPr>
            <a:r>
              <a:t>ChromaDB + BM25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3154680"/>
            <a:ext cx="64008" cy="1143000"/>
          </a:xfrm>
          <a:prstGeom prst="rect">
            <a:avLst/>
          </a:prstGeom>
          <a:solidFill>
            <a:srgbClr val="5C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680960" y="315468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Document layer</a:t>
            </a:r>
          </a:p>
          <a:p>
            <a:pPr>
              <a:spcBef>
                <a:spcPts val="700"/>
              </a:spcBef>
              <a:defRPr sz="1200">
                <a:solidFill>
                  <a:srgbClr val="262D38"/>
                </a:solidFill>
                <a:latin typeface="Aptos"/>
              </a:defRPr>
            </a:pPr>
            <a:r>
              <a:t>PDF / handbook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3154680"/>
            <a:ext cx="64008" cy="1143000"/>
          </a:xfrm>
          <a:prstGeom prst="rect">
            <a:avLst/>
          </a:prstGeom>
          <a:solidFill>
            <a:srgbClr val="5C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05840" y="4892040"/>
            <a:ext cx="9509760" cy="749808"/>
          </a:xfrm>
          <a:prstGeom prst="roundRect">
            <a:avLst/>
          </a:prstGeom>
          <a:solidFill>
            <a:srgbClr val="EFF4F9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2742"/>
                </a:solidFill>
                <a:latin typeface="Aptos"/>
              </a:defRPr>
            </a:pPr>
            <a:r>
              <a:t>RBAC filtering applied before restricted content reaches retrieval / generation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89920" y="65836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5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742"/>
                </a:solidFill>
                <a:latin typeface="Aptos Display"/>
              </a:rPr>
              <a:t>Hybrid retrieval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668779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  <a:latin typeface="Aptos"/>
              </a:defRPr>
            </a:pPr>
            <a:r>
              <a:rPr sz="1400" b="1" dirty="0"/>
              <a:t>A staged retrieval path balances speed, lexical precision and semantic recall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800" b="1">
                <a:solidFill>
                  <a:srgbClr val="182742"/>
                </a:solidFill>
                <a:latin typeface="Aptos Display"/>
              </a:defRPr>
            </a:pPr>
            <a:r>
              <a:t>Layer 1</a:t>
            </a:r>
          </a:p>
          <a:p>
            <a:pPr>
              <a:spcBef>
                <a:spcPts val="700"/>
              </a:spcBef>
              <a:defRPr sz="1300">
                <a:solidFill>
                  <a:srgbClr val="262D38"/>
                </a:solidFill>
                <a:latin typeface="Aptos"/>
              </a:defRPr>
            </a:pPr>
            <a:r>
              <a:t>Semantic query cache</a:t>
            </a:r>
            <a:br/>
            <a:r>
              <a:t>Fast path for repeated / similar queries.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64008" cy="182880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ight Arrow 6"/>
          <p:cNvSpPr/>
          <p:nvPr/>
        </p:nvSpPr>
        <p:spPr>
          <a:xfrm>
            <a:off x="3246120" y="2148840"/>
            <a:ext cx="457200" cy="274320"/>
          </a:xfrm>
          <a:prstGeom prst="rightArrow">
            <a:avLst/>
          </a:prstGeom>
          <a:solidFill>
            <a:srgbClr val="5C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794760" y="141732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800" b="1">
                <a:solidFill>
                  <a:srgbClr val="182742"/>
                </a:solidFill>
                <a:latin typeface="Aptos Display"/>
              </a:defRPr>
            </a:pPr>
            <a:r>
              <a:rPr dirty="0"/>
              <a:t>Layer 2</a:t>
            </a:r>
          </a:p>
          <a:p>
            <a:pPr>
              <a:spcBef>
                <a:spcPts val="700"/>
              </a:spcBef>
              <a:defRPr sz="1300">
                <a:solidFill>
                  <a:srgbClr val="262D38"/>
                </a:solidFill>
                <a:latin typeface="Aptos"/>
              </a:defRPr>
            </a:pPr>
            <a:r>
              <a:rPr dirty="0"/>
              <a:t>BM25 lexical </a:t>
            </a:r>
            <a:r>
              <a:rPr dirty="0" smtClean="0"/>
              <a:t>retrieval</a:t>
            </a:r>
            <a:r>
              <a:rPr lang="en-US" dirty="0" smtClean="0"/>
              <a:t> (from RAM memory)</a:t>
            </a:r>
            <a:r>
              <a:rPr dirty="0"/>
              <a:t/>
            </a:r>
            <a:br>
              <a:rPr dirty="0"/>
            </a:br>
            <a:r>
              <a:rPr dirty="0"/>
              <a:t>Exact terms + dynamic promotion.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1417320"/>
            <a:ext cx="64008" cy="1828800"/>
          </a:xfrm>
          <a:prstGeom prst="rect">
            <a:avLst/>
          </a:prstGeom>
          <a:solidFill>
            <a:srgbClr val="2A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6446520" y="2148840"/>
            <a:ext cx="457200" cy="274320"/>
          </a:xfrm>
          <a:prstGeom prst="rightArrow">
            <a:avLst/>
          </a:prstGeom>
          <a:solidFill>
            <a:srgbClr val="5C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95160" y="141732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800" b="1">
                <a:solidFill>
                  <a:srgbClr val="182742"/>
                </a:solidFill>
                <a:latin typeface="Aptos Display"/>
              </a:defRPr>
            </a:pPr>
            <a:r>
              <a:rPr dirty="0"/>
              <a:t>Layer 3</a:t>
            </a:r>
          </a:p>
          <a:p>
            <a:pPr>
              <a:spcBef>
                <a:spcPts val="700"/>
              </a:spcBef>
              <a:defRPr sz="1300">
                <a:solidFill>
                  <a:srgbClr val="262D38"/>
                </a:solidFill>
                <a:latin typeface="Aptos"/>
              </a:defRPr>
            </a:pPr>
            <a:r>
              <a:rPr dirty="0"/>
              <a:t>Dense vector retrieval</a:t>
            </a:r>
            <a:br>
              <a:rPr dirty="0"/>
            </a:br>
            <a:r>
              <a:rPr dirty="0"/>
              <a:t>Semantic matching over </a:t>
            </a:r>
            <a:r>
              <a:rPr dirty="0" smtClean="0"/>
              <a:t>routed</a:t>
            </a:r>
            <a:r>
              <a:rPr lang="en-US" dirty="0" smtClean="0"/>
              <a:t> hot</a:t>
            </a:r>
            <a:r>
              <a:rPr dirty="0" smtClean="0"/>
              <a:t> </a:t>
            </a:r>
            <a:r>
              <a:rPr dirty="0"/>
              <a:t>collections.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5160" y="1417320"/>
            <a:ext cx="64008" cy="182880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9646920" y="2148840"/>
            <a:ext cx="457200" cy="274320"/>
          </a:xfrm>
          <a:prstGeom prst="rightArrow">
            <a:avLst/>
          </a:prstGeom>
          <a:solidFill>
            <a:srgbClr val="5C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95560" y="1417320"/>
            <a:ext cx="1005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RRF</a:t>
            </a:r>
          </a:p>
          <a:p>
            <a:pPr>
              <a:spcBef>
                <a:spcPts val="700"/>
              </a:spcBef>
              <a:defRPr sz="1200">
                <a:solidFill>
                  <a:srgbClr val="262D38"/>
                </a:solidFill>
                <a:latin typeface="Aptos"/>
              </a:defRPr>
            </a:pPr>
            <a:r>
              <a:t>Fuse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95560" y="1417320"/>
            <a:ext cx="64008" cy="1828800"/>
          </a:xfrm>
          <a:prstGeom prst="rect">
            <a:avLst/>
          </a:prstGeom>
          <a:solidFill>
            <a:srgbClr val="367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794760" y="3886200"/>
            <a:ext cx="3657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700" b="1">
                <a:solidFill>
                  <a:srgbClr val="182742"/>
                </a:solidFill>
                <a:latin typeface="Aptos Display"/>
              </a:defRPr>
            </a:pPr>
            <a:r>
              <a:t>Pre-retrieval</a:t>
            </a:r>
          </a:p>
          <a:p>
            <a:pPr>
              <a:spcBef>
                <a:spcPts val="700"/>
              </a:spcBef>
              <a:defRPr sz="1300">
                <a:solidFill>
                  <a:srgbClr val="262D38"/>
                </a:solidFill>
                <a:latin typeface="Aptos"/>
              </a:defRPr>
            </a:pPr>
            <a:r>
              <a:t>Conversation history → standalone query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0" y="3886200"/>
            <a:ext cx="64008" cy="914400"/>
          </a:xfrm>
          <a:prstGeom prst="rect">
            <a:avLst/>
          </a:prstGeom>
          <a:solidFill>
            <a:srgbClr val="18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7635240" y="4187952"/>
            <a:ext cx="502920" cy="274320"/>
          </a:xfrm>
          <a:prstGeom prst="rightArrow">
            <a:avLst/>
          </a:prstGeom>
          <a:solidFill>
            <a:srgbClr val="5C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75320" y="388620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700" b="1">
                <a:solidFill>
                  <a:srgbClr val="182742"/>
                </a:solidFill>
                <a:latin typeface="Aptos Display"/>
              </a:defRPr>
            </a:pPr>
            <a:r>
              <a:t>Generation</a:t>
            </a:r>
          </a:p>
          <a:p>
            <a:pPr>
              <a:spcBef>
                <a:spcPts val="700"/>
              </a:spcBef>
              <a:defRPr sz="1300">
                <a:solidFill>
                  <a:srgbClr val="262D38"/>
                </a:solidFill>
                <a:latin typeface="Aptos"/>
              </a:defRPr>
            </a:pPr>
            <a:r>
              <a:t>Retrieved context → answer + citation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3886200"/>
            <a:ext cx="64008" cy="914400"/>
          </a:xfrm>
          <a:prstGeom prst="rect">
            <a:avLst/>
          </a:prstGeom>
          <a:solidFill>
            <a:srgbClr val="367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60" y="5257800"/>
            <a:ext cx="32004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400" b="1">
                <a:solidFill>
                  <a:srgbClr val="182742"/>
                </a:solidFill>
                <a:latin typeface="Aptos Display"/>
              </a:defRPr>
            </a:pPr>
            <a:r>
              <a:t>Chunking</a:t>
            </a:r>
          </a:p>
          <a:p>
            <a:pPr>
              <a:spcBef>
                <a:spcPts val="700"/>
              </a:spcBef>
              <a:defRPr sz="1100">
                <a:solidFill>
                  <a:srgbClr val="262D38"/>
                </a:solidFill>
                <a:latin typeface="Aptos"/>
              </a:defRPr>
            </a:pPr>
            <a:r>
              <a:t>150 words + 30-word overlap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257800"/>
            <a:ext cx="64008" cy="658368"/>
          </a:xfrm>
          <a:prstGeom prst="rect">
            <a:avLst/>
          </a:prstGeom>
          <a:solidFill>
            <a:srgbClr val="5C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343400" y="5257800"/>
            <a:ext cx="32004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400" b="1">
                <a:solidFill>
                  <a:srgbClr val="182742"/>
                </a:solidFill>
                <a:latin typeface="Aptos Display"/>
              </a:defRPr>
            </a:pPr>
            <a:r>
              <a:t>Fusion</a:t>
            </a:r>
          </a:p>
          <a:p>
            <a:pPr>
              <a:spcBef>
                <a:spcPts val="700"/>
              </a:spcBef>
              <a:defRPr sz="1100">
                <a:solidFill>
                  <a:srgbClr val="262D38"/>
                </a:solidFill>
                <a:latin typeface="Aptos"/>
              </a:defRPr>
            </a:pPr>
            <a:r>
              <a:t>RRF with K = 60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5257800"/>
            <a:ext cx="64008" cy="658368"/>
          </a:xfrm>
          <a:prstGeom prst="rect">
            <a:avLst/>
          </a:prstGeom>
          <a:solidFill>
            <a:srgbClr val="5C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863840" y="5257800"/>
            <a:ext cx="32004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400" b="1">
                <a:solidFill>
                  <a:srgbClr val="182742"/>
                </a:solidFill>
                <a:latin typeface="Aptos Display"/>
              </a:defRPr>
            </a:pPr>
            <a:r>
              <a:t>Vector index</a:t>
            </a:r>
          </a:p>
          <a:p>
            <a:pPr>
              <a:spcBef>
                <a:spcPts val="700"/>
              </a:spcBef>
              <a:defRPr sz="1100">
                <a:solidFill>
                  <a:srgbClr val="262D38"/>
                </a:solidFill>
                <a:latin typeface="Aptos"/>
              </a:defRPr>
            </a:pPr>
            <a:r>
              <a:t>384-dimensional embeddings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5257800"/>
            <a:ext cx="64008" cy="658368"/>
          </a:xfrm>
          <a:prstGeom prst="rect">
            <a:avLst/>
          </a:prstGeom>
          <a:solidFill>
            <a:srgbClr val="5C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0" y="65836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5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742"/>
                </a:solidFill>
                <a:latin typeface="Aptos Display"/>
              </a:rPr>
              <a:t>Evaluation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646151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  <a:latin typeface="Aptos"/>
              </a:defRPr>
            </a:pPr>
            <a:r>
              <a:rPr sz="1400" b="1" dirty="0"/>
              <a:t>Two complementary evaluations test retrieval and end-to-end RAG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1663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2000" b="1">
                <a:solidFill>
                  <a:srgbClr val="182742"/>
                </a:solidFill>
                <a:latin typeface="Aptos Display"/>
              </a:defRPr>
            </a:pPr>
            <a:r>
              <a:t>Retrieval ablation</a:t>
            </a:r>
          </a:p>
          <a:p>
            <a:pPr>
              <a:spcBef>
                <a:spcPts val="700"/>
              </a:spcBef>
              <a:defRPr sz="1600">
                <a:solidFill>
                  <a:srgbClr val="262D38"/>
                </a:solidFill>
                <a:latin typeface="Aptos"/>
              </a:defRPr>
            </a:pPr>
            <a:r>
              <a:t>• 35 evaluation questions</a:t>
            </a:r>
            <a:br/>
            <a:r>
              <a:t>• Top-4 retrieved sources (k=4)</a:t>
            </a:r>
            <a:br/>
            <a:r>
              <a:t>• Dense-only baseline</a:t>
            </a:r>
            <a:br/>
            <a:r>
              <a:t>• Sparse BM25-only baseline</a:t>
            </a:r>
            <a:br/>
            <a:r>
              <a:t>• Hybrid BM25 + dense + RRF</a:t>
            </a:r>
            <a:br/>
            <a:r>
              <a:t>• Metrics: Hit Rate@4 and MRR@4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411480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80760" y="1371600"/>
            <a:ext cx="51663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2000" b="1">
                <a:solidFill>
                  <a:srgbClr val="182742"/>
                </a:solidFill>
                <a:latin typeface="Aptos Display"/>
              </a:defRPr>
            </a:pPr>
            <a:r>
              <a:t>RAGAS evaluation</a:t>
            </a:r>
          </a:p>
          <a:p>
            <a:pPr>
              <a:spcBef>
                <a:spcPts val="700"/>
              </a:spcBef>
              <a:defRPr sz="1600">
                <a:solidFill>
                  <a:srgbClr val="262D38"/>
                </a:solidFill>
                <a:latin typeface="Aptos"/>
              </a:defRPr>
            </a:pPr>
            <a:r>
              <a:t>• 16 domain-specific queries</a:t>
            </a:r>
            <a:br/>
            <a:r>
              <a:t>• LLM-judge based assessment</a:t>
            </a:r>
            <a:br/>
            <a:r>
              <a:t>• Context Recall</a:t>
            </a:r>
            <a:br/>
            <a:r>
              <a:t>• Context Precision</a:t>
            </a:r>
            <a:br/>
            <a:r>
              <a:t>• Faithfulness</a:t>
            </a:r>
            <a:br/>
            <a:r>
              <a:t>• Answer Relevancy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371600"/>
            <a:ext cx="64008" cy="4114800"/>
          </a:xfrm>
          <a:prstGeom prst="rect">
            <a:avLst/>
          </a:prstGeom>
          <a:solidFill>
            <a:srgbClr val="2A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371600" y="5715000"/>
            <a:ext cx="1828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D5B96"/>
                </a:solidFill>
                <a:latin typeface="Aptos Display"/>
              </a:rPr>
              <a:t>35</a:t>
            </a:r>
          </a:p>
          <a:p>
            <a:pPr algn="ctr">
              <a:defRPr sz="1100">
                <a:solidFill>
                  <a:srgbClr val="5C6573"/>
                </a:solidFill>
                <a:latin typeface="Aptos"/>
              </a:defRPr>
            </a:pPr>
            <a:r>
              <a:t>retrieval queries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5715000"/>
            <a:ext cx="1828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A7E84"/>
                </a:solidFill>
                <a:latin typeface="Aptos Display"/>
              </a:rPr>
              <a:t>k = 4</a:t>
            </a:r>
          </a:p>
          <a:p>
            <a:pPr algn="ctr">
              <a:defRPr sz="1100">
                <a:solidFill>
                  <a:srgbClr val="5C6573"/>
                </a:solidFill>
                <a:latin typeface="Aptos"/>
              </a:defRPr>
            </a:pPr>
            <a:r>
              <a:t>retrieved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5715000"/>
            <a:ext cx="1828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367852"/>
                </a:solidFill>
                <a:latin typeface="Aptos Display"/>
              </a:rPr>
              <a:t>16</a:t>
            </a:r>
          </a:p>
          <a:p>
            <a:pPr algn="ctr">
              <a:defRPr sz="1100">
                <a:solidFill>
                  <a:srgbClr val="5C6573"/>
                </a:solidFill>
                <a:latin typeface="Aptos"/>
              </a:defRPr>
            </a:pPr>
            <a:r>
              <a:t>RAGAS queries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0" y="65836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5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742"/>
                </a:solidFill>
                <a:latin typeface="Aptos Display"/>
              </a:rPr>
              <a:t>Ablation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572304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  <a:latin typeface="Aptos"/>
              </a:defRPr>
            </a:pPr>
            <a:r>
              <a:rPr sz="1400" b="1"/>
              <a:t>Hybrid retrieval achieved the best result on both retrieval metrics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371600"/>
          <a:ext cx="52120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72200" y="1371600"/>
          <a:ext cx="52120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880360" y="5715000"/>
            <a:ext cx="6400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500" b="1">
                <a:solidFill>
                  <a:srgbClr val="182742"/>
                </a:solidFill>
                <a:latin typeface="Aptos Display"/>
              </a:defRPr>
            </a:pPr>
            <a:r>
              <a:t>Key finding</a:t>
            </a:r>
          </a:p>
          <a:p>
            <a:pPr>
              <a:spcBef>
                <a:spcPts val="700"/>
              </a:spcBef>
              <a:defRPr sz="1100">
                <a:solidFill>
                  <a:srgbClr val="262D38"/>
                </a:solidFill>
                <a:latin typeface="Aptos"/>
              </a:defRPr>
            </a:pPr>
            <a:r>
              <a:t>Hybrid improved MRR from 0.8524 (dense) and 0.8976 (sparse) to 0.9214.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5715000"/>
            <a:ext cx="64008" cy="621792"/>
          </a:xfrm>
          <a:prstGeom prst="rect">
            <a:avLst/>
          </a:prstGeom>
          <a:solidFill>
            <a:srgbClr val="367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0" y="65836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5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742"/>
                </a:solidFill>
                <a:latin typeface="Aptos Display"/>
              </a:rPr>
              <a:t>RAGAS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780213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  <a:latin typeface="Aptos"/>
              </a:defRPr>
            </a:pPr>
            <a:r>
              <a:rPr sz="1400" b="1" dirty="0"/>
              <a:t>Strong retrieval completeness and precision, with room for generation-level improvement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D5B96"/>
                </a:solidFill>
                <a:latin typeface="Aptos Display"/>
              </a:rPr>
              <a:t>0.9792</a:t>
            </a:r>
          </a:p>
          <a:p>
            <a:pPr algn="ctr">
              <a:defRPr sz="1100">
                <a:solidFill>
                  <a:srgbClr val="5C6573"/>
                </a:solidFill>
                <a:latin typeface="Aptos"/>
              </a:defRPr>
            </a:pPr>
            <a:r>
              <a:t>Context Recall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1732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A7E84"/>
                </a:solidFill>
                <a:latin typeface="Aptos Display"/>
              </a:rPr>
              <a:t>0.9427</a:t>
            </a:r>
          </a:p>
          <a:p>
            <a:pPr algn="ctr">
              <a:defRPr sz="1100">
                <a:solidFill>
                  <a:srgbClr val="5C6573"/>
                </a:solidFill>
                <a:latin typeface="Aptos"/>
              </a:defRPr>
            </a:pPr>
            <a:r>
              <a:t>Context Precision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367852"/>
                </a:solidFill>
                <a:latin typeface="Aptos Display"/>
              </a:rPr>
              <a:t>0.8861</a:t>
            </a:r>
          </a:p>
          <a:p>
            <a:pPr algn="ctr">
              <a:defRPr sz="1100">
                <a:solidFill>
                  <a:srgbClr val="5C6573"/>
                </a:solidFill>
                <a:latin typeface="Aptos"/>
              </a:defRPr>
            </a:pPr>
            <a:r>
              <a:t>Faithfulness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41732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A87725"/>
                </a:solidFill>
                <a:latin typeface="Aptos Display"/>
              </a:rPr>
              <a:t>0.8745</a:t>
            </a:r>
          </a:p>
          <a:p>
            <a:pPr algn="ctr">
              <a:defRPr sz="1100">
                <a:solidFill>
                  <a:srgbClr val="5C6573"/>
                </a:solidFill>
                <a:latin typeface="Aptos"/>
              </a:defRPr>
            </a:pPr>
            <a:r>
              <a:t>Answer Relevancy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46120"/>
            <a:ext cx="47548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800" b="1">
                <a:solidFill>
                  <a:srgbClr val="182742"/>
                </a:solidFill>
                <a:latin typeface="Aptos Display"/>
              </a:defRPr>
            </a:pPr>
            <a:r>
              <a:rPr dirty="0"/>
              <a:t>Interpretation</a:t>
            </a:r>
          </a:p>
          <a:p>
            <a:pPr>
              <a:spcBef>
                <a:spcPts val="700"/>
              </a:spcBef>
              <a:defRPr sz="1400">
                <a:solidFill>
                  <a:srgbClr val="262D38"/>
                </a:solidFill>
                <a:latin typeface="Aptos"/>
              </a:defRPr>
            </a:pPr>
            <a:r>
              <a:rPr dirty="0"/>
              <a:t>• Retrieved context was highly comprehensive.</a:t>
            </a:r>
            <a:br>
              <a:rPr dirty="0"/>
            </a:br>
            <a:r>
              <a:rPr dirty="0"/>
              <a:t>• Most retrieved context was relevant.</a:t>
            </a:r>
            <a:br>
              <a:rPr dirty="0"/>
            </a:br>
            <a:r>
              <a:rPr dirty="0"/>
              <a:t>• Generation remained </a:t>
            </a:r>
            <a:r>
              <a:rPr dirty="0" smtClean="0"/>
              <a:t>strongly </a:t>
            </a:r>
            <a:r>
              <a:rPr dirty="0"/>
              <a:t>grounded.</a:t>
            </a:r>
            <a:br>
              <a:rPr dirty="0"/>
            </a:br>
            <a:r>
              <a:rPr dirty="0"/>
              <a:t>• Answer relevance was high but leaves scope for improvement.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46120"/>
            <a:ext cx="64008" cy="210312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897880" y="3246120"/>
            <a:ext cx="47548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800" b="1">
                <a:solidFill>
                  <a:srgbClr val="182742"/>
                </a:solidFill>
                <a:latin typeface="Aptos Display"/>
              </a:defRPr>
            </a:pPr>
            <a:r>
              <a:rPr dirty="0"/>
              <a:t>What this does NOT prove</a:t>
            </a:r>
          </a:p>
          <a:p>
            <a:pPr>
              <a:spcBef>
                <a:spcPts val="700"/>
              </a:spcBef>
              <a:defRPr sz="1400">
                <a:solidFill>
                  <a:srgbClr val="262D38"/>
                </a:solidFill>
                <a:latin typeface="Aptos"/>
              </a:defRPr>
            </a:pPr>
            <a:r>
              <a:rPr dirty="0"/>
              <a:t>• RAG does not eliminate </a:t>
            </a:r>
            <a:r>
              <a:rPr dirty="0" smtClean="0"/>
              <a:t>hallucinations</a:t>
            </a:r>
            <a:r>
              <a:rPr lang="en-US" dirty="0" smtClean="0"/>
              <a:t> for 100%</a:t>
            </a:r>
            <a:r>
              <a:rPr dirty="0"/>
              <a:t/>
            </a:r>
            <a:br>
              <a:rPr dirty="0"/>
            </a:br>
            <a:r>
              <a:rPr dirty="0" smtClean="0"/>
              <a:t>• </a:t>
            </a:r>
            <a:r>
              <a:rPr dirty="0"/>
              <a:t>RAGAS uses an LLM judge and is not a substitute for human evaluation.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3246120"/>
            <a:ext cx="64008" cy="2103120"/>
          </a:xfrm>
          <a:prstGeom prst="rect">
            <a:avLst/>
          </a:prstGeom>
          <a:solidFill>
            <a:srgbClr val="A87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0" y="65836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57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742"/>
                </a:solidFill>
                <a:latin typeface="Aptos Display"/>
              </a:rPr>
              <a:t>Project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527099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  <a:latin typeface="Aptos"/>
              </a:defRPr>
            </a:pPr>
            <a:r>
              <a:rPr sz="1400" b="1" dirty="0"/>
              <a:t>What the project contributes beyond a basic RAG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800" b="1">
                <a:solidFill>
                  <a:srgbClr val="182742"/>
                </a:solidFill>
                <a:latin typeface="Aptos Display"/>
              </a:defRPr>
            </a:pPr>
            <a:r>
              <a:t>1. Hybrid retrieval</a:t>
            </a:r>
          </a:p>
          <a:p>
            <a:pPr>
              <a:spcBef>
                <a:spcPts val="700"/>
              </a:spcBef>
              <a:defRPr sz="1300">
                <a:solidFill>
                  <a:srgbClr val="262D38"/>
                </a:solidFill>
                <a:latin typeface="Aptos"/>
              </a:defRPr>
            </a:pPr>
            <a:r>
              <a:t>Combines lexical and semantic retrieval with RRF to improve ranking robustness.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141732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800" b="1">
                <a:solidFill>
                  <a:srgbClr val="182742"/>
                </a:solidFill>
                <a:latin typeface="Aptos Display"/>
              </a:defRPr>
            </a:pPr>
            <a:r>
              <a:rPr dirty="0"/>
              <a:t>2. Citation grounding</a:t>
            </a:r>
          </a:p>
          <a:p>
            <a:pPr>
              <a:spcBef>
                <a:spcPts val="700"/>
              </a:spcBef>
              <a:defRPr sz="1300">
                <a:solidFill>
                  <a:srgbClr val="262D38"/>
                </a:solidFill>
                <a:latin typeface="Aptos"/>
              </a:defRPr>
            </a:pPr>
            <a:r>
              <a:rPr dirty="0"/>
              <a:t>Provides source-linked responses to improve traceability and auditability.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64008" cy="1417320"/>
          </a:xfrm>
          <a:prstGeom prst="rect">
            <a:avLst/>
          </a:prstGeom>
          <a:solidFill>
            <a:srgbClr val="2A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09560" y="13716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800" b="1">
                <a:solidFill>
                  <a:srgbClr val="182742"/>
                </a:solidFill>
                <a:latin typeface="Aptos Display"/>
              </a:defRPr>
            </a:pPr>
            <a:r>
              <a:t>3. Role-aware retrieval</a:t>
            </a:r>
          </a:p>
          <a:p>
            <a:pPr>
              <a:spcBef>
                <a:spcPts val="700"/>
              </a:spcBef>
              <a:defRPr sz="1300">
                <a:solidFill>
                  <a:srgbClr val="262D38"/>
                </a:solidFill>
                <a:latin typeface="Aptos"/>
              </a:defRPr>
            </a:pPr>
            <a:r>
              <a:t>Applies role-based access restrictions before restricted content reaches generation.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1371600"/>
            <a:ext cx="64008" cy="1417320"/>
          </a:xfrm>
          <a:prstGeom prst="rect">
            <a:avLst/>
          </a:prstGeom>
          <a:solidFill>
            <a:srgbClr val="367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30632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800" b="1">
                <a:solidFill>
                  <a:srgbClr val="182742"/>
                </a:solidFill>
                <a:latin typeface="Aptos Display"/>
              </a:defRPr>
            </a:pPr>
            <a:r>
              <a:t>4. Conversational retrieval</a:t>
            </a:r>
          </a:p>
          <a:p>
            <a:pPr>
              <a:spcBef>
                <a:spcPts val="700"/>
              </a:spcBef>
              <a:defRPr sz="1300">
                <a:solidFill>
                  <a:srgbClr val="262D38"/>
                </a:solidFill>
                <a:latin typeface="Aptos"/>
              </a:defRPr>
            </a:pPr>
            <a:r>
              <a:t>Condenses follow-up questions into standalone retrieval queries.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63240"/>
            <a:ext cx="64008" cy="141732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97680" y="30632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800" b="1">
                <a:solidFill>
                  <a:srgbClr val="182742"/>
                </a:solidFill>
                <a:latin typeface="Aptos Display"/>
              </a:defRPr>
            </a:pPr>
            <a:r>
              <a:t>5. Empirical evaluation</a:t>
            </a:r>
          </a:p>
          <a:p>
            <a:pPr>
              <a:spcBef>
                <a:spcPts val="700"/>
              </a:spcBef>
              <a:defRPr sz="1300">
                <a:solidFill>
                  <a:srgbClr val="262D38"/>
                </a:solidFill>
                <a:latin typeface="Aptos"/>
              </a:defRPr>
            </a:pPr>
            <a:r>
              <a:t>Benchmarks dense, sparse and hybrid retrieval using Hit Rate and MRR.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3063240"/>
            <a:ext cx="64008" cy="1417320"/>
          </a:xfrm>
          <a:prstGeom prst="rect">
            <a:avLst/>
          </a:prstGeom>
          <a:solidFill>
            <a:srgbClr val="2A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09560" y="30632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800" b="1">
                <a:solidFill>
                  <a:srgbClr val="182742"/>
                </a:solidFill>
                <a:latin typeface="Aptos Display"/>
              </a:defRPr>
            </a:pPr>
            <a:r>
              <a:t>6. Engineering evolution</a:t>
            </a:r>
          </a:p>
          <a:p>
            <a:pPr>
              <a:spcBef>
                <a:spcPts val="700"/>
              </a:spcBef>
              <a:defRPr sz="1300">
                <a:solidFill>
                  <a:srgbClr val="262D38"/>
                </a:solidFill>
                <a:latin typeface="Aptos"/>
              </a:defRPr>
            </a:pPr>
            <a:r>
              <a:t>Moves from a monolithic prototype toward a service-oriented architecture.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3063240"/>
            <a:ext cx="64008" cy="1417320"/>
          </a:xfrm>
          <a:prstGeom prst="rect">
            <a:avLst/>
          </a:prstGeom>
          <a:solidFill>
            <a:srgbClr val="367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828800" y="4983480"/>
            <a:ext cx="8138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2000" b="1">
                <a:solidFill>
                  <a:srgbClr val="182742"/>
                </a:solidFill>
                <a:latin typeface="Aptos Display"/>
              </a:defRPr>
            </a:pPr>
            <a:r>
              <a:t>Overall contribution</a:t>
            </a:r>
          </a:p>
          <a:p>
            <a:pPr>
              <a:spcBef>
                <a:spcPts val="700"/>
              </a:spcBef>
              <a:defRPr sz="1500">
                <a:solidFill>
                  <a:srgbClr val="262D38"/>
                </a:solidFill>
                <a:latin typeface="Aptos"/>
              </a:defRPr>
            </a:pPr>
            <a:r>
              <a:t>An evaluated, citation-grounded retrieval architecture tailored to university regulatory information.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4983480"/>
            <a:ext cx="64008" cy="868680"/>
          </a:xfrm>
          <a:prstGeom prst="rect">
            <a:avLst/>
          </a:prstGeom>
          <a:solidFill>
            <a:srgbClr val="18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0" y="65836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57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742"/>
                </a:solidFill>
                <a:latin typeface="Aptos Display"/>
              </a:rPr>
              <a:t>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601799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  <a:latin typeface="Aptos"/>
              </a:defRPr>
            </a:pPr>
            <a:r>
              <a:rPr sz="1400" b="1" dirty="0"/>
              <a:t>The evaluation identifies clear opportunities for further improvement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800" b="1">
                <a:solidFill>
                  <a:srgbClr val="182742"/>
                </a:solidFill>
                <a:latin typeface="Aptos Display"/>
              </a:defRPr>
            </a:pPr>
            <a:r>
              <a:rPr dirty="0"/>
              <a:t>Retrieval</a:t>
            </a:r>
          </a:p>
          <a:p>
            <a:pPr>
              <a:spcBef>
                <a:spcPts val="700"/>
              </a:spcBef>
              <a:defRPr sz="1400">
                <a:solidFill>
                  <a:srgbClr val="262D38"/>
                </a:solidFill>
                <a:latin typeface="Aptos"/>
              </a:defRPr>
            </a:pPr>
            <a:r>
              <a:rPr dirty="0"/>
              <a:t>• RRF can promote lexically strong but semantically weak candidates.</a:t>
            </a:r>
            <a:br>
              <a:rPr dirty="0"/>
            </a:br>
            <a:r>
              <a:rPr dirty="0"/>
              <a:t>• No cross-encoder </a:t>
            </a:r>
            <a:r>
              <a:rPr dirty="0" err="1"/>
              <a:t>reranking</a:t>
            </a:r>
            <a:r>
              <a:rPr dirty="0"/>
              <a:t>.</a:t>
            </a:r>
            <a:br>
              <a:rPr dirty="0"/>
            </a:br>
            <a:r>
              <a:rPr dirty="0"/>
              <a:t>• Thresholds and fusion parameters require broader validation.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338328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800" b="1">
                <a:solidFill>
                  <a:srgbClr val="182742"/>
                </a:solidFill>
                <a:latin typeface="Aptos Display"/>
              </a:defRPr>
            </a:pPr>
            <a:r>
              <a:rPr dirty="0"/>
              <a:t>Engineering</a:t>
            </a:r>
          </a:p>
          <a:p>
            <a:pPr>
              <a:spcBef>
                <a:spcPts val="700"/>
              </a:spcBef>
              <a:defRPr sz="1400">
                <a:solidFill>
                  <a:srgbClr val="262D38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 smtClean="0"/>
              <a:t>Caching </a:t>
            </a:r>
            <a:r>
              <a:rPr dirty="0" smtClean="0"/>
              <a:t>BM25 </a:t>
            </a:r>
            <a:r>
              <a:rPr dirty="0"/>
              <a:t>index is </a:t>
            </a:r>
            <a:r>
              <a:rPr lang="en-US" dirty="0" smtClean="0"/>
              <a:t>local RAM </a:t>
            </a:r>
            <a:r>
              <a:rPr dirty="0" smtClean="0"/>
              <a:t>memory-dependent</a:t>
            </a:r>
            <a:r>
              <a:rPr dirty="0"/>
              <a:t>.</a:t>
            </a:r>
            <a:br>
              <a:rPr dirty="0"/>
            </a:br>
            <a:r>
              <a:rPr dirty="0"/>
              <a:t>• PDF tables / multi-column layouts remain challenging.</a:t>
            </a:r>
            <a:br>
              <a:rPr dirty="0"/>
            </a:br>
            <a:r>
              <a:rPr dirty="0"/>
              <a:t>• External LLM API introduces dependency and latency.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25880"/>
            <a:ext cx="64008" cy="3383280"/>
          </a:xfrm>
          <a:prstGeom prst="rect">
            <a:avLst/>
          </a:prstGeom>
          <a:solidFill>
            <a:srgbClr val="2A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09560" y="132588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800" b="1">
                <a:solidFill>
                  <a:srgbClr val="182742"/>
                </a:solidFill>
                <a:latin typeface="Aptos Display"/>
              </a:defRPr>
            </a:pPr>
            <a:r>
              <a:rPr dirty="0"/>
              <a:t>Scope</a:t>
            </a:r>
          </a:p>
          <a:p>
            <a:pPr>
              <a:spcBef>
                <a:spcPts val="700"/>
              </a:spcBef>
              <a:defRPr sz="1400">
                <a:solidFill>
                  <a:srgbClr val="262D38"/>
                </a:solidFill>
                <a:latin typeface="Aptos"/>
              </a:defRPr>
            </a:pPr>
            <a:r>
              <a:rPr dirty="0"/>
              <a:t>• Evaluation uses a limited domain and benchmark.</a:t>
            </a:r>
            <a:br>
              <a:rPr dirty="0"/>
            </a:br>
            <a:r>
              <a:rPr dirty="0"/>
              <a:t>• Access-control model is role-based rather than attribute-based.</a:t>
            </a:r>
            <a:br>
              <a:rPr dirty="0"/>
            </a:br>
            <a:r>
              <a:rPr dirty="0"/>
              <a:t>• Broader institutional validation is still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1325880"/>
            <a:ext cx="64008" cy="3383280"/>
          </a:xfrm>
          <a:prstGeom prst="rect">
            <a:avLst/>
          </a:prstGeom>
          <a:solidFill>
            <a:srgbClr val="A87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280160" y="5074920"/>
            <a:ext cx="9052560" cy="8966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rPr dirty="0"/>
              <a:t>Future work</a:t>
            </a:r>
          </a:p>
          <a:p>
            <a:pPr>
              <a:spcBef>
                <a:spcPts val="700"/>
              </a:spcBef>
              <a:defRPr sz="1200">
                <a:solidFill>
                  <a:srgbClr val="262D38"/>
                </a:solidFill>
                <a:latin typeface="Aptos"/>
              </a:defRPr>
            </a:pPr>
            <a:r>
              <a:rPr sz="1400" dirty="0"/>
              <a:t>Adaptive fusion • Cross-encoder </a:t>
            </a:r>
            <a:r>
              <a:rPr sz="1400" dirty="0" err="1"/>
              <a:t>reranking</a:t>
            </a:r>
            <a:r>
              <a:rPr sz="1400" dirty="0"/>
              <a:t> • </a:t>
            </a:r>
            <a:r>
              <a:rPr sz="1400" dirty="0" err="1"/>
              <a:t>GraphRAG</a:t>
            </a:r>
            <a:r>
              <a:rPr sz="1400" dirty="0"/>
              <a:t> • Multimodal document parsing • Distributed retrieval • ABAC • Local LLMs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5074920"/>
            <a:ext cx="64008" cy="777240"/>
          </a:xfrm>
          <a:prstGeom prst="rect">
            <a:avLst/>
          </a:prstGeom>
          <a:solidFill>
            <a:srgbClr val="367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0" y="65836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57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82742"/>
                </a:solidFill>
                <a:latin typeface="Aptos Display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78339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573"/>
                </a:solidFill>
                <a:latin typeface="Aptos"/>
              </a:defRPr>
            </a:pPr>
            <a:r>
              <a:rPr sz="1400" b="1" dirty="0"/>
              <a:t>A grounded hybrid approach improved retrieval performance on the evaluated benchmark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900" b="1">
                <a:solidFill>
                  <a:srgbClr val="182742"/>
                </a:solidFill>
                <a:latin typeface="Aptos Display"/>
              </a:defRPr>
            </a:pPr>
            <a:r>
              <a:t>Problem</a:t>
            </a:r>
          </a:p>
          <a:p>
            <a:pPr>
              <a:spcBef>
                <a:spcPts val="700"/>
              </a:spcBef>
              <a:defRPr sz="1500">
                <a:solidFill>
                  <a:srgbClr val="262D38"/>
                </a:solidFill>
                <a:latin typeface="Aptos"/>
              </a:defRPr>
            </a:pPr>
            <a:r>
              <a:t>University regulations require precise, traceable and context-aware retrieval.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182880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ight Arrow 6"/>
          <p:cNvSpPr/>
          <p:nvPr/>
        </p:nvSpPr>
        <p:spPr>
          <a:xfrm>
            <a:off x="4114800" y="2011680"/>
            <a:ext cx="502920" cy="274320"/>
          </a:xfrm>
          <a:prstGeom prst="rightArrow">
            <a:avLst/>
          </a:prstGeom>
          <a:solidFill>
            <a:srgbClr val="5C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0" y="132588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900" b="1">
                <a:solidFill>
                  <a:srgbClr val="182742"/>
                </a:solidFill>
                <a:latin typeface="Aptos Display"/>
              </a:defRPr>
            </a:pPr>
            <a:r>
              <a:t>Approach</a:t>
            </a:r>
          </a:p>
          <a:p>
            <a:pPr>
              <a:spcBef>
                <a:spcPts val="700"/>
              </a:spcBef>
              <a:defRPr sz="1500">
                <a:solidFill>
                  <a:srgbClr val="262D38"/>
                </a:solidFill>
                <a:latin typeface="Aptos"/>
              </a:defRPr>
            </a:pPr>
            <a:r>
              <a:t>Hybrid BM25 + dense retrieval, RRF, query condensation, RBAC and citations.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325880"/>
            <a:ext cx="64008" cy="1828800"/>
          </a:xfrm>
          <a:prstGeom prst="rect">
            <a:avLst/>
          </a:prstGeom>
          <a:solidFill>
            <a:srgbClr val="2A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8001000" y="2011680"/>
            <a:ext cx="502920" cy="274320"/>
          </a:xfrm>
          <a:prstGeom prst="rightArrow">
            <a:avLst/>
          </a:prstGeom>
          <a:solidFill>
            <a:srgbClr val="5C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58200" y="132588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1900" b="1">
                <a:solidFill>
                  <a:srgbClr val="182742"/>
                </a:solidFill>
                <a:latin typeface="Aptos Display"/>
              </a:defRPr>
            </a:pPr>
            <a:r>
              <a:t>Evidence</a:t>
            </a:r>
          </a:p>
          <a:p>
            <a:pPr>
              <a:spcBef>
                <a:spcPts val="700"/>
              </a:spcBef>
              <a:defRPr sz="1500">
                <a:solidFill>
                  <a:srgbClr val="262D38"/>
                </a:solidFill>
                <a:latin typeface="Aptos"/>
              </a:defRPr>
            </a:pPr>
            <a:r>
              <a:t>100% Hit Rate@4</a:t>
            </a:r>
            <a:br/>
            <a:r>
              <a:t>0.9214 MRR@4</a:t>
            </a:r>
            <a:br/>
            <a:r>
              <a:t>0.9792 Context Recall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58200" y="1325880"/>
            <a:ext cx="64008" cy="1828800"/>
          </a:xfrm>
          <a:prstGeom prst="rect">
            <a:avLst/>
          </a:prstGeom>
          <a:solidFill>
            <a:srgbClr val="367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3840479"/>
            <a:ext cx="9692640" cy="1615369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37160" rtlCol="0" anchor="ctr"/>
          <a:lstStyle/>
          <a:p>
            <a:pPr algn="ctr">
              <a:defRPr sz="2200" b="1">
                <a:solidFill>
                  <a:srgbClr val="182742"/>
                </a:solidFill>
                <a:latin typeface="Aptos Display"/>
              </a:defRPr>
            </a:pPr>
            <a:r>
              <a:rPr lang="en-US" dirty="0" smtClean="0"/>
              <a:t>Takeaway</a:t>
            </a:r>
            <a:endParaRPr dirty="0"/>
          </a:p>
          <a:p>
            <a:pPr>
              <a:spcBef>
                <a:spcPts val="700"/>
              </a:spcBef>
              <a:defRPr sz="1700">
                <a:solidFill>
                  <a:srgbClr val="262D38"/>
                </a:solidFill>
                <a:latin typeface="Aptos"/>
              </a:defRPr>
            </a:pPr>
            <a:r>
              <a:rPr dirty="0"/>
              <a:t>Hybrid retrieval outperformed either dense or sparse retrieval alone in the 35-query ablation study</a:t>
            </a:r>
            <a:r>
              <a:rPr dirty="0" smtClean="0"/>
              <a:t>.</a:t>
            </a:r>
            <a:r>
              <a:rPr lang="en-US" dirty="0" smtClean="0"/>
              <a:t> </a:t>
            </a:r>
            <a:r>
              <a:rPr lang="en-US" dirty="0"/>
              <a:t>The system improves retrieval reliability and </a:t>
            </a:r>
            <a:r>
              <a:rPr lang="en-US" dirty="0" smtClean="0"/>
              <a:t>resource traceability</a:t>
            </a:r>
            <a:r>
              <a:rPr lang="en-US" dirty="0"/>
              <a:t>, while the evaluation also exposes practical limits that should guide future work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914400" y="3840480"/>
            <a:ext cx="64008" cy="1143000"/>
          </a:xfrm>
          <a:prstGeom prst="rect">
            <a:avLst/>
          </a:prstGeom>
          <a:solidFill>
            <a:srgbClr val="18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0" y="65836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57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8547440-A618-7AEC-306C-3528E637C3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3FFA32-A967-CD7B-E118-FC927974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0" y="476149"/>
            <a:ext cx="11712955" cy="59060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90715" y="90325"/>
            <a:ext cx="8401286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182742"/>
                </a:solidFill>
                <a:latin typeface="Aptos Display"/>
              </a:rPr>
              <a:t>System </a:t>
            </a:r>
            <a:r>
              <a:rPr lang="en-US" b="1" dirty="0">
                <a:solidFill>
                  <a:srgbClr val="182742"/>
                </a:solidFill>
                <a:latin typeface="Aptos Display"/>
              </a:rPr>
              <a:t>main </a:t>
            </a:r>
            <a:r>
              <a:rPr lang="en-US" b="1" dirty="0" smtClean="0">
                <a:solidFill>
                  <a:srgbClr val="182742"/>
                </a:solidFill>
                <a:latin typeface="Aptos Display"/>
              </a:rPr>
              <a:t>page.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182742"/>
                </a:solidFill>
                <a:latin typeface="Aptos Display"/>
              </a:rPr>
              <a:t>Provides an answer with clickable exact source and 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182742"/>
                </a:solidFill>
                <a:latin typeface="Aptos Display"/>
              </a:rPr>
              <a:t>(Hypothesis 3). Query rewrite is working as intended. System understands that “his” is referring to Personal tutor </a:t>
            </a:r>
            <a:r>
              <a:rPr lang="en-US" b="1" dirty="0">
                <a:solidFill>
                  <a:srgbClr val="182742"/>
                </a:solidFill>
                <a:latin typeface="Aptos Display"/>
              </a:rPr>
              <a:t>and </a:t>
            </a:r>
            <a:r>
              <a:rPr lang="en-US" b="1" dirty="0" smtClean="0">
                <a:solidFill>
                  <a:srgbClr val="182742"/>
                </a:solidFill>
                <a:latin typeface="Aptos Display"/>
              </a:rPr>
              <a:t> provides </a:t>
            </a:r>
            <a:r>
              <a:rPr lang="en-US" b="1" dirty="0">
                <a:solidFill>
                  <a:srgbClr val="182742"/>
                </a:solidFill>
                <a:latin typeface="Aptos Display"/>
              </a:rPr>
              <a:t>Rewritten Standalone </a:t>
            </a:r>
            <a:r>
              <a:rPr lang="en-US" b="1" dirty="0" smtClean="0">
                <a:solidFill>
                  <a:srgbClr val="182742"/>
                </a:solidFill>
                <a:latin typeface="Aptos Display"/>
              </a:rPr>
              <a:t>Query as “Personal tutors responsibilities”</a:t>
            </a:r>
            <a:endParaRPr lang="en-US" b="1" dirty="0">
              <a:solidFill>
                <a:srgbClr val="182742"/>
              </a:solidFill>
              <a:latin typeface="Aptos Display"/>
            </a:endParaRPr>
          </a:p>
          <a:p>
            <a:endParaRPr sz="2400" b="1" dirty="0">
              <a:solidFill>
                <a:srgbClr val="182742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110180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559" y="463767"/>
            <a:ext cx="8228665" cy="524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25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110</TotalTime>
  <Words>774</Words>
  <Application>Microsoft Office PowerPoint</Application>
  <PresentationFormat>Широкоэкранный</PresentationFormat>
  <Paragraphs>161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Eldar Dikhanbayev (MSc Computer Science FT)</cp:lastModifiedBy>
  <cp:revision>13</cp:revision>
  <dcterms:created xsi:type="dcterms:W3CDTF">2013-01-27T09:14:16Z</dcterms:created>
  <dcterms:modified xsi:type="dcterms:W3CDTF">2026-08-13T17:37:10Z</dcterms:modified>
  <cp:category/>
</cp:coreProperties>
</file>