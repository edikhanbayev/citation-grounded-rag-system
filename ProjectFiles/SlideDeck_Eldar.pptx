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3" r:id="rId4"/>
  </p:sldMasterIdLst>
  <p:handoutMasterIdLst>
    <p:handoutMasterId r:id="rId16"/>
  </p:handoutMasterIdLst>
  <p:sldIdLst>
    <p:sldId id="256" r:id="rId5"/>
    <p:sldId id="257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1B1B"/>
    <a:srgbClr val="FAFAFA"/>
    <a:srgbClr val="1C1C1C"/>
    <a:srgbClr val="FFFFFF"/>
    <a:srgbClr val="F6F6F6"/>
    <a:srgbClr val="333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85"/>
    <p:restoredTop sz="94744"/>
  </p:normalViewPr>
  <p:slideViewPr>
    <p:cSldViewPr snapToGrid="0">
      <p:cViewPr varScale="1">
        <p:scale>
          <a:sx n="82" d="100"/>
          <a:sy n="82" d="100"/>
        </p:scale>
        <p:origin x="2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32B6318-4724-91EE-B7BB-B2C88A2AAB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74CE4F-20D3-2232-9916-6E754ED8DA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18833-6ED6-43DF-B316-8E0905B9641D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98F1E-E28F-55A0-FF07-7C9D8E3281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C1080-86AB-B2A9-A93B-42D3A79F32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E4F95-1DE7-41C5-854A-71CEFFE43D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1484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CE8E45-5B9F-C181-45C9-202694F15F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320102"/>
            <a:ext cx="69088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6671733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2EF67E1-6EE4-3331-ABA4-9F069831BFF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727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Title Slide_Image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A91C61-EA6A-A371-72BB-E53271771F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6344356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 </a:t>
            </a:r>
            <a:br>
              <a:rPr lang="en-GB" dirty="0"/>
            </a:br>
            <a:r>
              <a:rPr lang="en-GB" dirty="0"/>
              <a:t>Should be between </a:t>
            </a:r>
            <a:br>
              <a:rPr lang="en-GB" dirty="0"/>
            </a:br>
            <a:r>
              <a:rPr lang="en-GB" dirty="0"/>
              <a:t>1-3 lines max. </a:t>
            </a:r>
            <a:endParaRPr lang="en-US" dirty="0"/>
          </a:p>
        </p:txBody>
      </p:sp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63443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sp>
        <p:nvSpPr>
          <p:cNvPr id="10" name="4. Picture Placeholder">
            <a:extLst>
              <a:ext uri="{FF2B5EF4-FFF2-40B4-BE49-F238E27FC236}">
                <a16:creationId xmlns:a16="http://schemas.microsoft.com/office/drawing/2014/main" id="{C992F3AA-2026-24C9-831B-F66B099808A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31362" y="0"/>
            <a:ext cx="4556539" cy="6858000"/>
          </a:xfrm>
          <a:custGeom>
            <a:avLst/>
            <a:gdLst>
              <a:gd name="connsiteX0" fmla="*/ 1896887 w 4542379"/>
              <a:gd name="connsiteY0" fmla="*/ 0 h 6858000"/>
              <a:gd name="connsiteX1" fmla="*/ 4542379 w 4542379"/>
              <a:gd name="connsiteY1" fmla="*/ 0 h 6858000"/>
              <a:gd name="connsiteX2" fmla="*/ 4542379 w 4542379"/>
              <a:gd name="connsiteY2" fmla="*/ 6858000 h 6858000"/>
              <a:gd name="connsiteX3" fmla="*/ 2609965 w 4542379"/>
              <a:gd name="connsiteY3" fmla="*/ 6858000 h 6858000"/>
              <a:gd name="connsiteX4" fmla="*/ 0 w 4542379"/>
              <a:gd name="connsiteY4" fmla="*/ 177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2379" h="6858000">
                <a:moveTo>
                  <a:pt x="1896887" y="0"/>
                </a:moveTo>
                <a:lnTo>
                  <a:pt x="4542379" y="0"/>
                </a:lnTo>
                <a:lnTo>
                  <a:pt x="4542379" y="6858000"/>
                </a:lnTo>
                <a:lnTo>
                  <a:pt x="2609965" y="6858000"/>
                </a:lnTo>
                <a:lnTo>
                  <a:pt x="0" y="177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373EF5D-89A1-E767-AC39-6A875CF1499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653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_Imag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D4904C7-AEC6-1771-1753-914C38E8E8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6637867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Insert headline here. </a:t>
            </a:r>
            <a:br>
              <a:rPr lang="en-GB" dirty="0"/>
            </a:br>
            <a:r>
              <a:rPr lang="en-GB" dirty="0"/>
              <a:t>Should be between </a:t>
            </a:r>
            <a:br>
              <a:rPr lang="en-GB" dirty="0"/>
            </a:br>
            <a:r>
              <a:rPr lang="en-GB" dirty="0"/>
              <a:t>1-3 lines max. </a:t>
            </a:r>
            <a:endParaRPr lang="en-US" dirty="0"/>
          </a:p>
        </p:txBody>
      </p:sp>
      <p:sp>
        <p:nvSpPr>
          <p:cNvPr id="17" name="4. Picture Box ">
            <a:extLst>
              <a:ext uri="{FF2B5EF4-FFF2-40B4-BE49-F238E27FC236}">
                <a16:creationId xmlns:a16="http://schemas.microsoft.com/office/drawing/2014/main" id="{5BD1D972-DB48-9F79-3343-53455BAD1A3F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7650676" y="0"/>
            <a:ext cx="4541325" cy="6854092"/>
          </a:xfrm>
          <a:custGeom>
            <a:avLst/>
            <a:gdLst>
              <a:gd name="connsiteX0" fmla="*/ 1895608 w 4541325"/>
              <a:gd name="connsiteY0" fmla="*/ 0 h 6854092"/>
              <a:gd name="connsiteX1" fmla="*/ 4541325 w 4541325"/>
              <a:gd name="connsiteY1" fmla="*/ 0 h 6854092"/>
              <a:gd name="connsiteX2" fmla="*/ 4541325 w 4541325"/>
              <a:gd name="connsiteY2" fmla="*/ 6854092 h 6854092"/>
              <a:gd name="connsiteX3" fmla="*/ 2610437 w 4541325"/>
              <a:gd name="connsiteY3" fmla="*/ 6854092 h 6854092"/>
              <a:gd name="connsiteX4" fmla="*/ 0 w 4541325"/>
              <a:gd name="connsiteY4" fmla="*/ 4568092 h 685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1325" h="6854092">
                <a:moveTo>
                  <a:pt x="1895608" y="0"/>
                </a:moveTo>
                <a:lnTo>
                  <a:pt x="4541325" y="0"/>
                </a:lnTo>
                <a:lnTo>
                  <a:pt x="4541325" y="6854092"/>
                </a:lnTo>
                <a:lnTo>
                  <a:pt x="2610437" y="6854092"/>
                </a:lnTo>
                <a:lnTo>
                  <a:pt x="0" y="456809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pic>
        <p:nvPicPr>
          <p:cNvPr id="3" name="Picture 2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6DFB1AD8-611C-E16C-A431-4125E580214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2539"/>
            <a:ext cx="1953808" cy="497017"/>
          </a:xfrm>
          <a:prstGeom prst="rect">
            <a:avLst/>
          </a:prstGeom>
        </p:spPr>
      </p:pic>
      <p:sp>
        <p:nvSpPr>
          <p:cNvPr id="5" name="3. Subtitle Placeholder">
            <a:extLst>
              <a:ext uri="{FF2B5EF4-FFF2-40B4-BE49-F238E27FC236}">
                <a16:creationId xmlns:a16="http://schemas.microsoft.com/office/drawing/2014/main" id="{D99E812D-9A36-EB66-C6AF-F7569F4271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6637867" cy="102234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292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Title Slide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956F4E-D43F-4BF7-F1A3-5555E421CF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Insert headline here. </a:t>
            </a:r>
            <a:br>
              <a:rPr lang="en-GB" dirty="0"/>
            </a:br>
            <a:r>
              <a:rPr lang="en-GB" dirty="0"/>
              <a:t>Should be between </a:t>
            </a:r>
            <a:br>
              <a:rPr lang="en-GB" dirty="0"/>
            </a:br>
            <a:r>
              <a:rPr lang="en-GB" dirty="0"/>
              <a:t>1-3 lines max. </a:t>
            </a:r>
            <a:endParaRPr lang="en-US" dirty="0"/>
          </a:p>
        </p:txBody>
      </p:sp>
      <p:pic>
        <p:nvPicPr>
          <p:cNvPr id="6" name="Picture 5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3513E173-CB28-611F-DD12-EAFD5ADD7ED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2539"/>
            <a:ext cx="1953808" cy="497017"/>
          </a:xfrm>
          <a:prstGeom prst="rect">
            <a:avLst/>
          </a:prstGeom>
        </p:spPr>
      </p:pic>
      <p:sp>
        <p:nvSpPr>
          <p:cNvPr id="5" name="3. Subtitle Placeholder">
            <a:extLst>
              <a:ext uri="{FF2B5EF4-FFF2-40B4-BE49-F238E27FC236}">
                <a16:creationId xmlns:a16="http://schemas.microsoft.com/office/drawing/2014/main" id="{A043951A-D3DB-4FFC-95EC-5515787772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956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9" name="3. Content Placeholder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  <a:lvl2pPr>
              <a:defRPr>
                <a:solidFill>
                  <a:srgbClr val="1B1B1B"/>
                </a:solidFill>
              </a:defRPr>
            </a:lvl2pPr>
            <a:lvl3pPr>
              <a:defRPr>
                <a:solidFill>
                  <a:srgbClr val="1B1B1B"/>
                </a:solidFill>
              </a:defRPr>
            </a:lvl3pPr>
            <a:lvl4pPr>
              <a:defRPr>
                <a:solidFill>
                  <a:srgbClr val="1B1B1B"/>
                </a:solidFill>
              </a:defRPr>
            </a:lvl4pPr>
            <a:lvl5pPr>
              <a:defRPr>
                <a:solidFill>
                  <a:srgbClr val="1B1B1B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7229CF6-AAC7-DD2D-2383-FA5CC4CFB10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9" name="3. Content Placeholder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  <a:lvl2pPr>
              <a:defRPr>
                <a:solidFill>
                  <a:srgbClr val="1B1B1B"/>
                </a:solidFill>
              </a:defRPr>
            </a:lvl2pPr>
            <a:lvl3pPr>
              <a:defRPr>
                <a:solidFill>
                  <a:srgbClr val="1B1B1B"/>
                </a:solidFill>
              </a:defRPr>
            </a:lvl3pPr>
            <a:lvl4pPr>
              <a:defRPr>
                <a:solidFill>
                  <a:srgbClr val="1B1B1B"/>
                </a:solidFill>
              </a:defRPr>
            </a:lvl4pPr>
            <a:lvl5pPr>
              <a:defRPr>
                <a:solidFill>
                  <a:srgbClr val="1B1B1B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6DC3F04-8BBA-0785-458A-2A7116D5CC5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5021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00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17" name="3. Content Placeholder (1)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  <a:lvl2pPr>
              <a:defRPr>
                <a:solidFill>
                  <a:srgbClr val="1B1B1B"/>
                </a:solidFill>
              </a:defRPr>
            </a:lvl2pPr>
            <a:lvl3pPr>
              <a:defRPr>
                <a:solidFill>
                  <a:srgbClr val="1B1B1B"/>
                </a:solidFill>
              </a:defRPr>
            </a:lvl3pPr>
            <a:lvl4pPr>
              <a:defRPr>
                <a:solidFill>
                  <a:srgbClr val="1B1B1B"/>
                </a:solidFill>
              </a:defRPr>
            </a:lvl4pPr>
            <a:lvl5pPr>
              <a:defRPr>
                <a:solidFill>
                  <a:srgbClr val="1B1B1B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4. Content Placeholder (2)">
            <a:extLst>
              <a:ext uri="{FF2B5EF4-FFF2-40B4-BE49-F238E27FC236}">
                <a16:creationId xmlns:a16="http://schemas.microsoft.com/office/drawing/2014/main" id="{084CCB2F-26F1-E1B8-5561-263F115EB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6920" y="1310641"/>
            <a:ext cx="5181600" cy="43789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  <a:lvl2pPr>
              <a:defRPr>
                <a:solidFill>
                  <a:srgbClr val="1B1B1B"/>
                </a:solidFill>
              </a:defRPr>
            </a:lvl2pPr>
            <a:lvl3pPr>
              <a:defRPr>
                <a:solidFill>
                  <a:srgbClr val="1B1B1B"/>
                </a:solidFill>
              </a:defRPr>
            </a:lvl3pPr>
            <a:lvl4pPr>
              <a:defRPr>
                <a:solidFill>
                  <a:srgbClr val="1B1B1B"/>
                </a:solidFill>
              </a:defRPr>
            </a:lvl4pPr>
            <a:lvl5pPr>
              <a:defRPr>
                <a:solidFill>
                  <a:srgbClr val="1B1B1B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517CE37-381F-3FD9-96CB-F3D35B32BD5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24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17" name="3. Content Placeholder (1)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  <a:lvl2pPr>
              <a:defRPr>
                <a:solidFill>
                  <a:srgbClr val="1B1B1B"/>
                </a:solidFill>
              </a:defRPr>
            </a:lvl2pPr>
            <a:lvl3pPr>
              <a:defRPr>
                <a:solidFill>
                  <a:srgbClr val="1B1B1B"/>
                </a:solidFill>
              </a:defRPr>
            </a:lvl3pPr>
            <a:lvl4pPr>
              <a:defRPr>
                <a:solidFill>
                  <a:srgbClr val="1B1B1B"/>
                </a:solidFill>
              </a:defRPr>
            </a:lvl4pPr>
            <a:lvl5pPr>
              <a:defRPr>
                <a:solidFill>
                  <a:srgbClr val="1B1B1B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4. Content Placeholder (2)">
            <a:extLst>
              <a:ext uri="{FF2B5EF4-FFF2-40B4-BE49-F238E27FC236}">
                <a16:creationId xmlns:a16="http://schemas.microsoft.com/office/drawing/2014/main" id="{084CCB2F-26F1-E1B8-5561-263F115EB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6920" y="1310641"/>
            <a:ext cx="5181600" cy="43789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  <a:lvl2pPr>
              <a:defRPr>
                <a:solidFill>
                  <a:srgbClr val="1B1B1B"/>
                </a:solidFill>
              </a:defRPr>
            </a:lvl2pPr>
            <a:lvl3pPr>
              <a:defRPr>
                <a:solidFill>
                  <a:srgbClr val="1B1B1B"/>
                </a:solidFill>
              </a:defRPr>
            </a:lvl3pPr>
            <a:lvl4pPr>
              <a:defRPr>
                <a:solidFill>
                  <a:srgbClr val="1B1B1B"/>
                </a:solidFill>
              </a:defRPr>
            </a:lvl4pPr>
            <a:lvl5pPr>
              <a:defRPr>
                <a:solidFill>
                  <a:srgbClr val="1B1B1B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5A08B27-4FCD-D887-21E3-71B416AADE5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5021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885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wo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3" name="3. Content Placeholder (1)">
            <a:extLst>
              <a:ext uri="{FF2B5EF4-FFF2-40B4-BE49-F238E27FC236}">
                <a16:creationId xmlns:a16="http://schemas.microsoft.com/office/drawing/2014/main" id="{A162B99D-4A4D-B778-5FD2-9F4A22B0B3A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68019" y="1636464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4. Text Box Placeholder (1)">
            <a:extLst>
              <a:ext uri="{FF2B5EF4-FFF2-40B4-BE49-F238E27FC236}">
                <a16:creationId xmlns:a16="http://schemas.microsoft.com/office/drawing/2014/main" id="{6D6CB8B4-9C8E-A2FA-558C-30A5D08270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069" y="4351119"/>
            <a:ext cx="2520950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sub copy here.</a:t>
            </a:r>
          </a:p>
        </p:txBody>
      </p:sp>
      <p:sp>
        <p:nvSpPr>
          <p:cNvPr id="4" name="5. Content Placeholder (2)">
            <a:extLst>
              <a:ext uri="{FF2B5EF4-FFF2-40B4-BE49-F238E27FC236}">
                <a16:creationId xmlns:a16="http://schemas.microsoft.com/office/drawing/2014/main" id="{A2B13861-080E-609A-01A7-5EDC25A0B0F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836000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6. Text Box Placeholder (2)">
            <a:extLst>
              <a:ext uri="{FF2B5EF4-FFF2-40B4-BE49-F238E27FC236}">
                <a16:creationId xmlns:a16="http://schemas.microsoft.com/office/drawing/2014/main" id="{005774E2-5CA0-1157-5F43-7B5C9996EF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5525" y="4351119"/>
            <a:ext cx="2520950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sub copy here.</a:t>
            </a:r>
          </a:p>
        </p:txBody>
      </p:sp>
      <p:sp>
        <p:nvSpPr>
          <p:cNvPr id="9" name="7. Content Placeholder (3)">
            <a:extLst>
              <a:ext uri="{FF2B5EF4-FFF2-40B4-BE49-F238E27FC236}">
                <a16:creationId xmlns:a16="http://schemas.microsoft.com/office/drawing/2014/main" id="{5565E762-8883-AB43-D811-12B759024A9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714257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8. Text Box Placeholder (3)">
            <a:extLst>
              <a:ext uri="{FF2B5EF4-FFF2-40B4-BE49-F238E27FC236}">
                <a16:creationId xmlns:a16="http://schemas.microsoft.com/office/drawing/2014/main" id="{D584B818-73B8-22FE-5635-36F576CEAB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13782" y="4400389"/>
            <a:ext cx="2520475" cy="9810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sub copy here.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6AC4827-D56E-785B-690B-73B8B175B65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354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ght Divider Slide - 3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9A254AA-18E4-9DAC-4282-5464EB9B85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1151" y="0"/>
            <a:ext cx="5827131" cy="6858000"/>
          </a:xfrm>
          <a:custGeom>
            <a:avLst/>
            <a:gdLst>
              <a:gd name="connsiteX0" fmla="*/ 11151 w 5827131"/>
              <a:gd name="connsiteY0" fmla="*/ 0 h 6858000"/>
              <a:gd name="connsiteX1" fmla="*/ 28558 w 5827131"/>
              <a:gd name="connsiteY1" fmla="*/ 0 h 6858000"/>
              <a:gd name="connsiteX2" fmla="*/ 5080039 w 5827131"/>
              <a:gd name="connsiteY2" fmla="*/ 0 h 6858000"/>
              <a:gd name="connsiteX3" fmla="*/ 5792826 w 5827131"/>
              <a:gd name="connsiteY3" fmla="*/ 0 h 6858000"/>
              <a:gd name="connsiteX4" fmla="*/ 5157788 w 5827131"/>
              <a:gd name="connsiteY4" fmla="*/ 3796113 h 6858000"/>
              <a:gd name="connsiteX5" fmla="*/ 5827131 w 5827131"/>
              <a:gd name="connsiteY5" fmla="*/ 6858000 h 6858000"/>
              <a:gd name="connsiteX6" fmla="*/ 5080039 w 5827131"/>
              <a:gd name="connsiteY6" fmla="*/ 6858000 h 6858000"/>
              <a:gd name="connsiteX7" fmla="*/ 1779734 w 5827131"/>
              <a:gd name="connsiteY7" fmla="*/ 6858000 h 6858000"/>
              <a:gd name="connsiteX8" fmla="*/ 11151 w 5827131"/>
              <a:gd name="connsiteY8" fmla="*/ 6858000 h 6858000"/>
              <a:gd name="connsiteX9" fmla="*/ 11151 w 5827131"/>
              <a:gd name="connsiteY9" fmla="*/ 6853666 h 6858000"/>
              <a:gd name="connsiteX10" fmla="*/ 0 w 5827131"/>
              <a:gd name="connsiteY10" fmla="*/ 6853638 h 6858000"/>
              <a:gd name="connsiteX11" fmla="*/ 11151 w 5827131"/>
              <a:gd name="connsiteY11" fmla="*/ 41775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27131" h="6858000">
                <a:moveTo>
                  <a:pt x="11151" y="0"/>
                </a:moveTo>
                <a:lnTo>
                  <a:pt x="28558" y="0"/>
                </a:lnTo>
                <a:lnTo>
                  <a:pt x="5080039" y="0"/>
                </a:lnTo>
                <a:lnTo>
                  <a:pt x="5792826" y="0"/>
                </a:lnTo>
                <a:lnTo>
                  <a:pt x="5157788" y="3796113"/>
                </a:lnTo>
                <a:lnTo>
                  <a:pt x="5827131" y="6858000"/>
                </a:lnTo>
                <a:lnTo>
                  <a:pt x="5080039" y="6858000"/>
                </a:lnTo>
                <a:lnTo>
                  <a:pt x="1779734" y="6858000"/>
                </a:lnTo>
                <a:lnTo>
                  <a:pt x="11151" y="6858000"/>
                </a:lnTo>
                <a:lnTo>
                  <a:pt x="11151" y="6853666"/>
                </a:lnTo>
                <a:lnTo>
                  <a:pt x="0" y="6853638"/>
                </a:lnTo>
                <a:lnTo>
                  <a:pt x="11151" y="41775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8B87D74-DF91-5D9B-2ADA-143B3D15D3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7652" y="5827395"/>
            <a:ext cx="1954059" cy="487304"/>
          </a:xfrm>
          <a:prstGeom prst="rect">
            <a:avLst/>
          </a:prstGeom>
        </p:spPr>
      </p:pic>
      <p:sp>
        <p:nvSpPr>
          <p:cNvPr id="6" name="2. Subtitle Placeholder">
            <a:extLst>
              <a:ext uri="{FF2B5EF4-FFF2-40B4-BE49-F238E27FC236}">
                <a16:creationId xmlns:a16="http://schemas.microsoft.com/office/drawing/2014/main" id="{47DD63DB-696E-1F57-4651-369A131C6B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1569436"/>
            <a:ext cx="5518130" cy="38722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sp>
        <p:nvSpPr>
          <p:cNvPr id="7" name="2. Title Placeholder">
            <a:extLst>
              <a:ext uri="{FF2B5EF4-FFF2-40B4-BE49-F238E27FC236}">
                <a16:creationId xmlns:a16="http://schemas.microsoft.com/office/drawing/2014/main" id="{A4CA4673-AD06-EB19-133A-E588BE05FE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543301"/>
            <a:ext cx="5518130" cy="534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82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 Divider Slide -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89D52B5-AEBA-52C6-1468-CF5F3A19510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69051" y="0"/>
            <a:ext cx="5822949" cy="6858000"/>
          </a:xfrm>
          <a:custGeom>
            <a:avLst/>
            <a:gdLst>
              <a:gd name="connsiteX0" fmla="*/ 0 w 5822949"/>
              <a:gd name="connsiteY0" fmla="*/ 0 h 6858000"/>
              <a:gd name="connsiteX1" fmla="*/ 5822949 w 5822949"/>
              <a:gd name="connsiteY1" fmla="*/ 0 h 6858000"/>
              <a:gd name="connsiteX2" fmla="*/ 5822949 w 5822949"/>
              <a:gd name="connsiteY2" fmla="*/ 6858000 h 6858000"/>
              <a:gd name="connsiteX3" fmla="*/ 22923 w 5822949"/>
              <a:gd name="connsiteY3" fmla="*/ 6858000 h 6858000"/>
              <a:gd name="connsiteX4" fmla="*/ 539749 w 5822949"/>
              <a:gd name="connsiteY4" fmla="*/ 2540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22949" h="6858000">
                <a:moveTo>
                  <a:pt x="0" y="0"/>
                </a:moveTo>
                <a:lnTo>
                  <a:pt x="5822949" y="0"/>
                </a:lnTo>
                <a:lnTo>
                  <a:pt x="5822949" y="6858000"/>
                </a:lnTo>
                <a:lnTo>
                  <a:pt x="22923" y="6858000"/>
                </a:lnTo>
                <a:lnTo>
                  <a:pt x="539749" y="2540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21" name="Picture 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C3E2A1D-39AA-138E-44FD-FE23A72C4C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  <p:sp>
        <p:nvSpPr>
          <p:cNvPr id="4" name="2. Subtitle Placeholder">
            <a:extLst>
              <a:ext uri="{FF2B5EF4-FFF2-40B4-BE49-F238E27FC236}">
                <a16:creationId xmlns:a16="http://schemas.microsoft.com/office/drawing/2014/main" id="{C21A126F-4ECE-2EEA-33D2-07789BCE748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920" y="1463565"/>
            <a:ext cx="5518130" cy="38722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sp>
        <p:nvSpPr>
          <p:cNvPr id="5" name="2. Title Placeholder">
            <a:extLst>
              <a:ext uri="{FF2B5EF4-FFF2-40B4-BE49-F238E27FC236}">
                <a16:creationId xmlns:a16="http://schemas.microsoft.com/office/drawing/2014/main" id="{1DAC948A-6C66-F264-73D7-E98B9486D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5518130" cy="534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28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Divider Slide -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 Title Placeholder">
            <a:extLst>
              <a:ext uri="{FF2B5EF4-FFF2-40B4-BE49-F238E27FC236}">
                <a16:creationId xmlns:a16="http://schemas.microsoft.com/office/drawing/2014/main" id="{4D8642A1-7E6D-B42F-7749-8DC80C6DED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754224"/>
            <a:ext cx="6520180" cy="97604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4" name="2. Subtitle Placeholder">
            <a:extLst>
              <a:ext uri="{FF2B5EF4-FFF2-40B4-BE49-F238E27FC236}">
                <a16:creationId xmlns:a16="http://schemas.microsoft.com/office/drawing/2014/main" id="{798414E1-64D1-96D6-D06F-F94F3202C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2059593"/>
            <a:ext cx="6353996" cy="13694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852863"/>
            <a:ext cx="12192000" cy="3005137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E76A172-0120-5491-60E8-988074C1EB7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5021" y="754942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5270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Divider Slide -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. Title Placeholder">
            <a:extLst>
              <a:ext uri="{FF2B5EF4-FFF2-40B4-BE49-F238E27FC236}">
                <a16:creationId xmlns:a16="http://schemas.microsoft.com/office/drawing/2014/main" id="{DC759DBE-3BA0-9E84-5596-2AD69AA128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</a:t>
            </a:r>
            <a:br>
              <a:rPr lang="en-GB" dirty="0"/>
            </a:br>
            <a:r>
              <a:rPr lang="en-GB" dirty="0"/>
              <a:t>headline here.</a:t>
            </a:r>
            <a:endParaRPr lang="en-US" dirty="0"/>
          </a:p>
        </p:txBody>
      </p:sp>
      <p:sp>
        <p:nvSpPr>
          <p:cNvPr id="7" name="2. Subtitle Placeholder">
            <a:extLst>
              <a:ext uri="{FF2B5EF4-FFF2-40B4-BE49-F238E27FC236}">
                <a16:creationId xmlns:a16="http://schemas.microsoft.com/office/drawing/2014/main" id="{02A192BC-C9DB-F0AB-B1DE-03D15E5A87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7650" y="1"/>
            <a:ext cx="5784349" cy="6858000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C28641C-5551-16DE-84DF-E1489E73B09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434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Divider Slide -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. Title Placeholder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7653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</a:t>
            </a:r>
            <a:br>
              <a:rPr lang="en-GB" dirty="0"/>
            </a:br>
            <a:r>
              <a:rPr lang="en-GB" dirty="0"/>
              <a:t>title here.</a:t>
            </a:r>
            <a:endParaRPr lang="en-US" dirty="0"/>
          </a:p>
        </p:txBody>
      </p:sp>
      <p:sp>
        <p:nvSpPr>
          <p:cNvPr id="8" name="2. Subtitle Placeholder">
            <a:extLst>
              <a:ext uri="{FF2B5EF4-FFF2-40B4-BE49-F238E27FC236}">
                <a16:creationId xmlns:a16="http://schemas.microsoft.com/office/drawing/2014/main" id="{F1BF5AB1-F146-83EF-D63E-DD9EA52569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7653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5784349" cy="6858000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280A6D-54DF-5817-E29B-8DF1551D1CD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7652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59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Divider Slide - 3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. Title Placeholder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7653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Insert </a:t>
            </a:r>
            <a:br>
              <a:rPr lang="en-GB" dirty="0"/>
            </a:br>
            <a:r>
              <a:rPr lang="en-GB" dirty="0"/>
              <a:t>headline here.</a:t>
            </a:r>
            <a:endParaRPr lang="en-US" dirty="0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5784349" cy="6858000"/>
          </a:xfrm>
        </p:spPr>
        <p:txBody>
          <a:bodyPr/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4" name="Picture 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8A1843D6-ECE1-FAEC-49F7-0B0805BCED0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7653" y="5822539"/>
            <a:ext cx="1953808" cy="497017"/>
          </a:xfrm>
          <a:prstGeom prst="rect">
            <a:avLst/>
          </a:prstGeom>
        </p:spPr>
      </p:pic>
      <p:sp>
        <p:nvSpPr>
          <p:cNvPr id="6" name="2. Subtitle Placeholder">
            <a:extLst>
              <a:ext uri="{FF2B5EF4-FFF2-40B4-BE49-F238E27FC236}">
                <a16:creationId xmlns:a16="http://schemas.microsoft.com/office/drawing/2014/main" id="{1660A225-FE6D-C34F-7BE6-B5ACE68771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7653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61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Divider Slide - 2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7650" y="1"/>
            <a:ext cx="5784349" cy="6858000"/>
          </a:xfrm>
        </p:spPr>
        <p:txBody>
          <a:bodyPr/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1. Title Placeholder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Insert </a:t>
            </a:r>
            <a:br>
              <a:rPr lang="en-GB" dirty="0"/>
            </a:br>
            <a:r>
              <a:rPr lang="en-GB" dirty="0"/>
              <a:t>headline here.</a:t>
            </a:r>
            <a:endParaRPr lang="en-US" dirty="0"/>
          </a:p>
        </p:txBody>
      </p:sp>
      <p:pic>
        <p:nvPicPr>
          <p:cNvPr id="2" name="Picture 1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A08E24DA-E0F6-39B3-A8F3-68CC58F45DF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2539"/>
            <a:ext cx="1953808" cy="497017"/>
          </a:xfrm>
          <a:prstGeom prst="rect">
            <a:avLst/>
          </a:prstGeom>
        </p:spPr>
      </p:pic>
      <p:sp>
        <p:nvSpPr>
          <p:cNvPr id="4" name="2. Subtitle Placeholder">
            <a:extLst>
              <a:ext uri="{FF2B5EF4-FFF2-40B4-BE49-F238E27FC236}">
                <a16:creationId xmlns:a16="http://schemas.microsoft.com/office/drawing/2014/main" id="{4D08B0F8-A772-D5DC-A249-B09F62A064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9286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Divider Slide - 1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. Title Placeholder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617736"/>
            <a:ext cx="6353996" cy="15058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Insert </a:t>
            </a:r>
            <a:br>
              <a:rPr lang="en-GB" dirty="0"/>
            </a:br>
            <a:r>
              <a:rPr lang="en-GB" dirty="0"/>
              <a:t>headline here.</a:t>
            </a:r>
            <a:endParaRPr lang="en-US" dirty="0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852863"/>
            <a:ext cx="12192000" cy="3005137"/>
          </a:xfrm>
        </p:spPr>
        <p:txBody>
          <a:bodyPr/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4" name="Picture 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B60C4C52-9135-6A73-6513-3DC666671DA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5021" y="617736"/>
            <a:ext cx="1953808" cy="497017"/>
          </a:xfrm>
          <a:prstGeom prst="rect">
            <a:avLst/>
          </a:prstGeom>
        </p:spPr>
      </p:pic>
      <p:sp>
        <p:nvSpPr>
          <p:cNvPr id="6" name="2. Subtitle Placeholder">
            <a:extLst>
              <a:ext uri="{FF2B5EF4-FFF2-40B4-BE49-F238E27FC236}">
                <a16:creationId xmlns:a16="http://schemas.microsoft.com/office/drawing/2014/main" id="{45F6EDF8-CE70-0D70-2DBA-A1956B6C0B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2211993"/>
            <a:ext cx="6353996" cy="13694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684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C08AA-2148-527A-BB20-1D271A404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37430"/>
            <a:ext cx="1051560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797B6-4643-3710-FBDF-B4E98217F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347469"/>
            <a:ext cx="10515600" cy="4829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34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712" r:id="rId3"/>
    <p:sldLayoutId id="2147483720" r:id="rId4"/>
    <p:sldLayoutId id="2147483678" r:id="rId5"/>
    <p:sldLayoutId id="2147483699" r:id="rId6"/>
    <p:sldLayoutId id="2147483696" r:id="rId7"/>
    <p:sldLayoutId id="2147483700" r:id="rId8"/>
    <p:sldLayoutId id="2147483705" r:id="rId9"/>
    <p:sldLayoutId id="2147483723" r:id="rId10"/>
    <p:sldLayoutId id="2147483724" r:id="rId11"/>
    <p:sldLayoutId id="2147483686" r:id="rId12"/>
    <p:sldLayoutId id="2147483708" r:id="rId13"/>
    <p:sldLayoutId id="2147483709" r:id="rId14"/>
    <p:sldLayoutId id="2147483718" r:id="rId15"/>
    <p:sldLayoutId id="2147483721" r:id="rId16"/>
    <p:sldLayoutId id="214748372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1B1B1B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.cs.bham.ac.uk/projects-2025-26/exd46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6ACC0-C635-B486-D676-F34A3FBF7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755" y="247082"/>
            <a:ext cx="8495004" cy="2387600"/>
          </a:xfrm>
        </p:spPr>
        <p:txBody>
          <a:bodyPr/>
          <a:lstStyle/>
          <a:p>
            <a:r>
              <a:rPr lang="en-US" sz="4800" dirty="0"/>
              <a:t>Citation grounded Retrieval system for interpreting academic University regulations.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C9FE43-D308-2FD3-A728-259D938ABD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755" y="3129203"/>
            <a:ext cx="6671733" cy="2011963"/>
          </a:xfrm>
        </p:spPr>
        <p:txBody>
          <a:bodyPr/>
          <a:lstStyle/>
          <a:p>
            <a:r>
              <a:rPr lang="en-US" dirty="0" smtClean="0"/>
              <a:t>Slide Deck</a:t>
            </a:r>
          </a:p>
          <a:p>
            <a:endParaRPr lang="en-US" dirty="0"/>
          </a:p>
          <a:p>
            <a:r>
              <a:rPr lang="en-US" dirty="0" smtClean="0"/>
              <a:t>Eldar Dikhanbayev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git.cs.bham.ac.uk/projects-2025-26/exd462</a:t>
            </a:r>
            <a:endParaRPr lang="en-US" dirty="0" smtClean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988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7C48-2C50-5587-5B64-24F7CE23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System 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9116-DBB8-4101-FC45-CEDC7FD29B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Project </a:t>
            </a:r>
            <a:r>
              <a:rPr lang="en-US" b="1" dirty="0"/>
              <a:t>Title:</a:t>
            </a:r>
            <a:r>
              <a:rPr lang="en-US" dirty="0"/>
              <a:t> Citation grounded Retrieval system for interpreting academic University regulations</a:t>
            </a:r>
            <a:r>
              <a:rPr lang="en-US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Core </a:t>
            </a:r>
            <a:r>
              <a:rPr lang="en-US" b="1" dirty="0" smtClean="0"/>
              <a:t>Architecture:</a:t>
            </a:r>
            <a:r>
              <a:rPr lang="en-US" dirty="0" smtClean="0"/>
              <a:t> Started as </a:t>
            </a:r>
            <a:r>
              <a:rPr lang="en-US" dirty="0"/>
              <a:t>a monolithic </a:t>
            </a:r>
            <a:r>
              <a:rPr lang="en-US" dirty="0" smtClean="0"/>
              <a:t>Model View Controller prototype, and then decoupled </a:t>
            </a:r>
            <a:r>
              <a:rPr lang="en-US" dirty="0"/>
              <a:t>into a</a:t>
            </a:r>
            <a:r>
              <a:rPr lang="en-US" dirty="0" smtClean="0"/>
              <a:t> Service Oriented Architecture </a:t>
            </a:r>
            <a:r>
              <a:rPr lang="en-US" dirty="0"/>
              <a:t>featuring a 3-Tier Hybrid </a:t>
            </a:r>
            <a:r>
              <a:rPr lang="en-US" dirty="0" smtClean="0"/>
              <a:t>Retrieval Augmented </a:t>
            </a:r>
            <a:r>
              <a:rPr lang="en-US" dirty="0"/>
              <a:t>Generation e</a:t>
            </a:r>
            <a:r>
              <a:rPr lang="en-US" dirty="0" smtClean="0"/>
              <a:t>ngine.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Technology Stack:</a:t>
            </a:r>
            <a:r>
              <a:rPr lang="en-US" dirty="0"/>
              <a:t> Built with </a:t>
            </a:r>
            <a:r>
              <a:rPr lang="en-US" dirty="0" smtClean="0"/>
              <a:t>Python, </a:t>
            </a:r>
            <a:r>
              <a:rPr lang="en-US" dirty="0"/>
              <a:t>Flask 3.0, </a:t>
            </a:r>
            <a:r>
              <a:rPr lang="en-US" dirty="0" err="1"/>
              <a:t>SQLAlchemy</a:t>
            </a:r>
            <a:r>
              <a:rPr lang="en-US" dirty="0"/>
              <a:t>, </a:t>
            </a:r>
            <a:r>
              <a:rPr lang="en-US" dirty="0" err="1"/>
              <a:t>PyMuPDF</a:t>
            </a:r>
            <a:r>
              <a:rPr lang="en-US" dirty="0"/>
              <a:t>, </a:t>
            </a:r>
            <a:r>
              <a:rPr lang="en-US" dirty="0" err="1"/>
              <a:t>ChromaDB</a:t>
            </a:r>
            <a:r>
              <a:rPr lang="en-US" dirty="0"/>
              <a:t>, BM25Okapi, and </a:t>
            </a:r>
            <a:r>
              <a:rPr lang="en-US" dirty="0" err="1"/>
              <a:t>Groq</a:t>
            </a:r>
            <a:r>
              <a:rPr lang="en-US" dirty="0"/>
              <a:t> Cloud APIs (llama-3.3-70b-versatile for generation and llama-3.1-8b-instant for evaluation judging)</a:t>
            </a:r>
            <a:endParaRPr lang="en-US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Primary </a:t>
            </a:r>
            <a:r>
              <a:rPr lang="en-US" b="1" dirty="0"/>
              <a:t>Objective:</a:t>
            </a:r>
            <a:r>
              <a:rPr lang="en-US" dirty="0"/>
              <a:t> Address AI failure modes in university administration by </a:t>
            </a:r>
            <a:r>
              <a:rPr lang="en-US" dirty="0" smtClean="0"/>
              <a:t>eliminating </a:t>
            </a:r>
            <a:r>
              <a:rPr lang="en-US" dirty="0"/>
              <a:t>domain hallucinations, enforcing </a:t>
            </a:r>
            <a:r>
              <a:rPr lang="en-US" dirty="0" smtClean="0"/>
              <a:t>multi tenant </a:t>
            </a:r>
            <a:r>
              <a:rPr lang="en-US" dirty="0"/>
              <a:t>security boundaries, and providing </a:t>
            </a:r>
            <a:r>
              <a:rPr lang="en-US" dirty="0" smtClean="0"/>
              <a:t>page level </a:t>
            </a:r>
            <a:r>
              <a:rPr lang="en-US" dirty="0"/>
              <a:t>citations</a:t>
            </a: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5058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7C48-2C50-5587-5B64-24F7CE23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 and Motivation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9116-DBB8-4101-FC45-CEDC7FD29B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Dense </a:t>
            </a:r>
            <a:r>
              <a:rPr lang="en-US" b="1" dirty="0" smtClean="0"/>
              <a:t>regulatory frameworks</a:t>
            </a:r>
            <a:r>
              <a:rPr lang="en-US" b="1" dirty="0"/>
              <a:t>:</a:t>
            </a:r>
            <a:r>
              <a:rPr lang="en-US" dirty="0"/>
              <a:t> Higher education institutions operate under thousands of pages of regulations, codes of practice, assessment policies, and extenuating circumstances procedures</a:t>
            </a:r>
            <a:r>
              <a:rPr lang="en-US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Structural </a:t>
            </a:r>
            <a:r>
              <a:rPr lang="en-US" b="1" dirty="0" smtClean="0"/>
              <a:t>complexity </a:t>
            </a:r>
            <a:r>
              <a:rPr lang="en-US" b="1" dirty="0"/>
              <a:t>of </a:t>
            </a:r>
            <a:r>
              <a:rPr lang="en-US" b="1" dirty="0" smtClean="0"/>
              <a:t>policy text</a:t>
            </a:r>
            <a:r>
              <a:rPr lang="en-US" b="1" dirty="0"/>
              <a:t>: </a:t>
            </a:r>
            <a:r>
              <a:rPr lang="en-US" dirty="0"/>
              <a:t>Regulatory documents rely on hierarchical clause dependencies, exact alphanumeric codes (e.g., </a:t>
            </a:r>
            <a:r>
              <a:rPr lang="en-US" dirty="0" smtClean="0"/>
              <a:t>MSc Projects 18159,), </a:t>
            </a:r>
            <a:r>
              <a:rPr lang="en-US" dirty="0"/>
              <a:t>and conditional logic </a:t>
            </a:r>
            <a:r>
              <a:rPr lang="en-US" dirty="0" smtClean="0"/>
              <a:t>exceptions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Operational </a:t>
            </a:r>
            <a:r>
              <a:rPr lang="en-US" b="1" dirty="0" smtClean="0"/>
              <a:t>and administrative challenges</a:t>
            </a:r>
            <a:r>
              <a:rPr lang="en-US" b="1" dirty="0"/>
              <a:t>:</a:t>
            </a:r>
            <a:r>
              <a:rPr lang="en-US" dirty="0"/>
              <a:t> Manual search is error-prone for students seeking </a:t>
            </a:r>
            <a:r>
              <a:rPr lang="en-US" dirty="0" smtClean="0"/>
              <a:t>time sensitive </a:t>
            </a:r>
            <a:r>
              <a:rPr lang="en-US" dirty="0"/>
              <a:t>answers, while manual responses place a heavy burden on academic staff and risk academic appeals or legal liability. </a:t>
            </a: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Limitations of </a:t>
            </a:r>
            <a:r>
              <a:rPr lang="en-US" b="1" dirty="0" smtClean="0"/>
              <a:t>traditional tools</a:t>
            </a:r>
            <a:r>
              <a:rPr lang="en-US" b="1" dirty="0"/>
              <a:t>:</a:t>
            </a:r>
            <a:r>
              <a:rPr lang="en-US" dirty="0"/>
              <a:t> Traditional keyword search engines fail to understand natural language intent, while </a:t>
            </a:r>
            <a:r>
              <a:rPr lang="en-US" dirty="0" smtClean="0"/>
              <a:t>ungrounded LLMs </a:t>
            </a:r>
            <a:r>
              <a:rPr lang="en-US" dirty="0"/>
              <a:t>suffer from hallucinations, lack verifiable citations, and cannot enforce document clearance boundaries.</a:t>
            </a:r>
            <a:endParaRPr lang="en-GB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255736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7C48-2C50-5587-5B64-24F7CE23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</a:t>
            </a:r>
            <a:r>
              <a:rPr lang="en-US" dirty="0" smtClean="0"/>
              <a:t>problem and hypotheses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9116-DBB8-4101-FC45-CEDC7FD29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068043"/>
            <a:ext cx="10515600" cy="4378960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Domain Failure Modes of Standard LLMs</a:t>
            </a:r>
            <a:r>
              <a:rPr lang="en-US" b="1" dirty="0" smtClean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Hallucination:</a:t>
            </a:r>
            <a:r>
              <a:rPr lang="en-US" dirty="0"/>
              <a:t> Probabilistic generation of fabricated institutional policies. </a:t>
            </a:r>
            <a:endParaRPr lang="en-US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Lack of </a:t>
            </a:r>
            <a:r>
              <a:rPr lang="en-US" b="1" dirty="0" smtClean="0"/>
              <a:t>auditability</a:t>
            </a:r>
            <a:r>
              <a:rPr lang="en-US" b="1" dirty="0"/>
              <a:t>:</a:t>
            </a:r>
            <a:r>
              <a:rPr lang="en-US" dirty="0"/>
              <a:t> Generates responses without verifiable </a:t>
            </a:r>
            <a:r>
              <a:rPr lang="en-US" dirty="0" smtClean="0"/>
              <a:t>page level </a:t>
            </a:r>
            <a:r>
              <a:rPr lang="en-US" dirty="0"/>
              <a:t>source citations</a:t>
            </a:r>
            <a:r>
              <a:rPr lang="en-US" dirty="0" smtClean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Coarse </a:t>
            </a:r>
            <a:r>
              <a:rPr lang="en-US" b="1" dirty="0" smtClean="0"/>
              <a:t>access </a:t>
            </a:r>
            <a:r>
              <a:rPr lang="en-US" b="1" dirty="0"/>
              <a:t>Control:</a:t>
            </a:r>
            <a:r>
              <a:rPr lang="en-US" dirty="0"/>
              <a:t> Inability to enforce security clearance boundaries (e.g., student vs. internal faculty guidelines)</a:t>
            </a: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Hypotheses: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Hypothesis 1</a:t>
            </a:r>
            <a:r>
              <a:rPr lang="en-GB" dirty="0" smtClean="0"/>
              <a:t> </a:t>
            </a:r>
            <a:r>
              <a:rPr lang="en-GB" dirty="0"/>
              <a:t>(Hybrid vs. Dense-Only): </a:t>
            </a:r>
            <a:r>
              <a:rPr lang="en-GB" dirty="0" smtClean="0"/>
              <a:t>using </a:t>
            </a:r>
            <a:r>
              <a:rPr lang="en-GB" dirty="0"/>
              <a:t>dense vector search with sparse BM25 indexing via Reciprocal Rank Fusion </a:t>
            </a:r>
            <a:r>
              <a:rPr lang="en-GB" dirty="0" smtClean="0"/>
              <a:t>yields </a:t>
            </a:r>
            <a:r>
              <a:rPr lang="en-GB" dirty="0"/>
              <a:t>higher </a:t>
            </a:r>
            <a:r>
              <a:rPr lang="en-GB" dirty="0" smtClean="0"/>
              <a:t>precision, for </a:t>
            </a:r>
            <a:r>
              <a:rPr lang="en-GB" dirty="0"/>
              <a:t>exact terms, acronyms, and contact information than dense vector search alone</a:t>
            </a:r>
            <a:r>
              <a:rPr lang="en-GB" dirty="0" smtClean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Hypothesis </a:t>
            </a:r>
            <a:r>
              <a:rPr lang="en-GB" dirty="0" smtClean="0"/>
              <a:t>2 </a:t>
            </a:r>
            <a:r>
              <a:rPr lang="en-GB" dirty="0"/>
              <a:t>(Hybrid vs. Sparse-Only): Fusing sparse BM25 search with dense vector </a:t>
            </a:r>
            <a:r>
              <a:rPr lang="en-GB" dirty="0" err="1"/>
              <a:t>embeddings</a:t>
            </a:r>
            <a:r>
              <a:rPr lang="en-GB" dirty="0"/>
              <a:t> via candidate rank fusion and stop-word suppression prevents context pollution and closes retrieval gaps caused by semantic paraphrasing to achieve higher </a:t>
            </a:r>
            <a:r>
              <a:rPr lang="en-GB" dirty="0" smtClean="0"/>
              <a:t>Hit Rates </a:t>
            </a:r>
            <a:r>
              <a:rPr lang="en-GB" dirty="0"/>
              <a:t>than sparse search alone.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983979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7C48-2C50-5587-5B64-24F7CE23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</a:t>
            </a:r>
            <a:r>
              <a:rPr lang="en-US" dirty="0" smtClean="0"/>
              <a:t>architecture and </a:t>
            </a:r>
            <a:r>
              <a:rPr lang="en-US" dirty="0"/>
              <a:t>R</a:t>
            </a:r>
            <a:r>
              <a:rPr lang="en-US" dirty="0" smtClean="0"/>
              <a:t>elational design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9116-DBB8-4101-FC45-CEDC7FD29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068043"/>
            <a:ext cx="10515600" cy="453032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Transition to Service-Oriented Architecture </a:t>
            </a:r>
            <a:r>
              <a:rPr lang="en-US" b="1" dirty="0" smtClean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Routing Layer: </a:t>
            </a:r>
            <a:r>
              <a:rPr lang="en-US" dirty="0"/>
              <a:t>Flask Blueprints (</a:t>
            </a:r>
            <a:r>
              <a:rPr lang="en-US" dirty="0" err="1"/>
              <a:t>auth_routes</a:t>
            </a:r>
            <a:r>
              <a:rPr lang="en-US" dirty="0"/>
              <a:t>, </a:t>
            </a:r>
            <a:r>
              <a:rPr lang="en-US" dirty="0" err="1"/>
              <a:t>admin_routes</a:t>
            </a:r>
            <a:r>
              <a:rPr lang="en-US" dirty="0"/>
              <a:t>, </a:t>
            </a:r>
            <a:r>
              <a:rPr lang="en-US" dirty="0" err="1"/>
              <a:t>chat_routes</a:t>
            </a:r>
            <a:r>
              <a:rPr lang="en-US" dirty="0"/>
              <a:t>) decouple web request management.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Business Logic Layer: </a:t>
            </a:r>
            <a:r>
              <a:rPr lang="en-US" dirty="0"/>
              <a:t>document_service.py encapsulates file validation, disk I/O, and asynchronous background worker execution.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Core Engine Layer: </a:t>
            </a:r>
            <a:r>
              <a:rPr lang="en-US" dirty="0"/>
              <a:t>models.py (</a:t>
            </a:r>
            <a:r>
              <a:rPr lang="en-US" dirty="0" err="1"/>
              <a:t>RagEngine</a:t>
            </a:r>
            <a:r>
              <a:rPr lang="en-US" dirty="0"/>
              <a:t>) manages vector storage, in-memory BM25 indexing, semantic query caching, and LLM API </a:t>
            </a:r>
            <a:r>
              <a:rPr lang="en-US" dirty="0" smtClean="0"/>
              <a:t>calls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Normalized relational </a:t>
            </a:r>
            <a:r>
              <a:rPr lang="en-US" b="1" dirty="0"/>
              <a:t>Data s</a:t>
            </a:r>
            <a:r>
              <a:rPr lang="en-US" b="1" dirty="0" smtClean="0"/>
              <a:t>chema:</a:t>
            </a:r>
          </a:p>
          <a:p>
            <a:pPr marL="800100" lvl="2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dirty="0"/>
              <a:t>SQLite/</a:t>
            </a:r>
            <a:r>
              <a:rPr lang="en-GB" dirty="0" err="1"/>
              <a:t>SQLAlchemy</a:t>
            </a:r>
            <a:r>
              <a:rPr lang="en-GB" dirty="0"/>
              <a:t> relational schema tracking User, Conversation, </a:t>
            </a:r>
            <a:r>
              <a:rPr lang="en-GB" dirty="0" err="1"/>
              <a:t>ChatMessage</a:t>
            </a:r>
            <a:r>
              <a:rPr lang="en-GB" dirty="0"/>
              <a:t>, Document, and Citation entities.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Role-Based </a:t>
            </a:r>
            <a:r>
              <a:rPr lang="en-US" b="1" dirty="0" smtClean="0"/>
              <a:t>access control :</a:t>
            </a:r>
            <a:endParaRPr lang="en-US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Enforces strict document clearance boundaries (public, internal, restricted) by injecting metadata filter rules </a:t>
            </a:r>
            <a:r>
              <a:rPr lang="en-US" dirty="0" smtClean="0"/>
              <a:t>directly </a:t>
            </a:r>
            <a:r>
              <a:rPr lang="en-US" dirty="0"/>
              <a:t>into vector search queries.</a:t>
            </a: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3797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7C48-2C50-5587-5B64-24F7CE23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3-Tier Hybrid </a:t>
            </a:r>
            <a:r>
              <a:rPr lang="en-US" dirty="0" smtClean="0"/>
              <a:t>retrieval engine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9116-DBB8-4101-FC45-CEDC7FD29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068043"/>
            <a:ext cx="10515600" cy="453032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Layer 1: Semantic </a:t>
            </a:r>
            <a:r>
              <a:rPr lang="en-US" b="1" dirty="0" smtClean="0"/>
              <a:t>query cache</a:t>
            </a:r>
            <a:r>
              <a:rPr lang="en-US" b="1" dirty="0"/>
              <a:t>: </a:t>
            </a:r>
            <a:r>
              <a:rPr lang="en-US" dirty="0"/>
              <a:t>Checks </a:t>
            </a:r>
            <a:r>
              <a:rPr lang="en-US" dirty="0" err="1"/>
              <a:t>vectorized</a:t>
            </a:r>
            <a:r>
              <a:rPr lang="en-US" dirty="0"/>
              <a:t> incoming queries against </a:t>
            </a:r>
            <a:r>
              <a:rPr lang="en-US" dirty="0" smtClean="0"/>
              <a:t>saved caches and </a:t>
            </a:r>
            <a:r>
              <a:rPr lang="en-US" dirty="0"/>
              <a:t>returns cached answers and citations immediately while bypassing refusal outputs.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Layer 2: </a:t>
            </a:r>
            <a:r>
              <a:rPr lang="en-US" b="1" dirty="0" smtClean="0"/>
              <a:t>In Memory </a:t>
            </a:r>
            <a:r>
              <a:rPr lang="en-US" b="1" dirty="0"/>
              <a:t>BM25 </a:t>
            </a:r>
            <a:r>
              <a:rPr lang="en-US" b="1" dirty="0" smtClean="0"/>
              <a:t>and dynamic promotion</a:t>
            </a:r>
            <a:r>
              <a:rPr lang="en-US" b="1" dirty="0"/>
              <a:t>: </a:t>
            </a:r>
            <a:r>
              <a:rPr lang="en-US" dirty="0"/>
              <a:t>Loads all document chunks into a RAM-buffered BM25Okapi index </a:t>
            </a:r>
            <a:r>
              <a:rPr lang="en-US" dirty="0" smtClean="0"/>
              <a:t>for </a:t>
            </a:r>
            <a:r>
              <a:rPr lang="en-US" dirty="0"/>
              <a:t>instant lexical scoring. Tracks access counts and automatically promotes documents cited </a:t>
            </a:r>
            <a:r>
              <a:rPr lang="en-US" dirty="0" smtClean="0"/>
              <a:t>more than 5 </a:t>
            </a:r>
            <a:r>
              <a:rPr lang="en-US" dirty="0"/>
              <a:t>times into vector hot storage.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Layer 3: </a:t>
            </a:r>
            <a:r>
              <a:rPr lang="en-US" b="1" dirty="0" smtClean="0"/>
              <a:t>Two tier vector storage routing</a:t>
            </a:r>
            <a:r>
              <a:rPr lang="en-US" b="1" dirty="0"/>
              <a:t>: </a:t>
            </a:r>
            <a:r>
              <a:rPr lang="en-US" dirty="0"/>
              <a:t>Directs vector operations across </a:t>
            </a:r>
            <a:r>
              <a:rPr lang="en-US" dirty="0" smtClean="0"/>
              <a:t>full </a:t>
            </a:r>
            <a:r>
              <a:rPr lang="en-US" dirty="0"/>
              <a:t>document </a:t>
            </a:r>
            <a:r>
              <a:rPr lang="en-US" dirty="0" smtClean="0"/>
              <a:t>collection and  promoted </a:t>
            </a:r>
            <a:r>
              <a:rPr lang="en-US" dirty="0"/>
              <a:t>fast-access </a:t>
            </a:r>
            <a:r>
              <a:rPr lang="en-US" dirty="0" smtClean="0"/>
              <a:t>collection. 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Conversational </a:t>
            </a:r>
            <a:r>
              <a:rPr lang="en-US" b="1" dirty="0" smtClean="0"/>
              <a:t>intent reservation</a:t>
            </a:r>
            <a:r>
              <a:rPr lang="en-US" b="1" dirty="0"/>
              <a:t>: </a:t>
            </a:r>
            <a:r>
              <a:rPr lang="en-US" dirty="0"/>
              <a:t>Pre-retrieval LLM condensation </a:t>
            </a:r>
            <a:r>
              <a:rPr lang="en-US" dirty="0" err="1" smtClean="0"/>
              <a:t>passconverts</a:t>
            </a:r>
            <a:r>
              <a:rPr lang="en-US" dirty="0" smtClean="0"/>
              <a:t> </a:t>
            </a:r>
            <a:r>
              <a:rPr lang="en-US" dirty="0"/>
              <a:t>multi-turn follow-up prompts into standalone search queries before execution.</a:t>
            </a:r>
            <a:r>
              <a:rPr lang="en-US" dirty="0" smtClean="0"/>
              <a:t>.</a:t>
            </a: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3323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7C48-2C50-5587-5B64-24F7CE23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37430"/>
            <a:ext cx="10515600" cy="478155"/>
          </a:xfrm>
        </p:spPr>
        <p:txBody>
          <a:bodyPr/>
          <a:lstStyle/>
          <a:p>
            <a:r>
              <a:rPr lang="en-US" dirty="0"/>
              <a:t>Empirical </a:t>
            </a:r>
            <a:r>
              <a:rPr lang="en-US" dirty="0" smtClean="0"/>
              <a:t>results</a:t>
            </a:r>
            <a:r>
              <a:rPr lang="en-US" dirty="0"/>
              <a:t>: Retrieval </a:t>
            </a:r>
            <a:r>
              <a:rPr lang="en-US" dirty="0" smtClean="0"/>
              <a:t>ablation experiment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9116-DBB8-4101-FC45-CEDC7FD29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068043"/>
            <a:ext cx="10515600" cy="4530324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Experimental </a:t>
            </a:r>
            <a:r>
              <a:rPr lang="en-US" b="1" dirty="0"/>
              <a:t>Setup: </a:t>
            </a:r>
            <a:r>
              <a:rPr lang="en-US" dirty="0" smtClean="0"/>
              <a:t>35 QA </a:t>
            </a:r>
            <a:r>
              <a:rPr lang="en-US" dirty="0"/>
              <a:t>pairs benchmarked at depth </a:t>
            </a:r>
            <a:r>
              <a:rPr lang="en-US" dirty="0" smtClean="0"/>
              <a:t>k </a:t>
            </a:r>
            <a:r>
              <a:rPr lang="en-US" dirty="0"/>
              <a:t>= </a:t>
            </a:r>
            <a:r>
              <a:rPr lang="en-US" dirty="0" smtClean="0"/>
              <a:t>4 (up to 4 resource files), </a:t>
            </a:r>
            <a:r>
              <a:rPr lang="en-US" dirty="0"/>
              <a:t>requiring dual matching of both filename and exact target page number for a hit </a:t>
            </a: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Ablation performance metric </a:t>
            </a:r>
            <a:r>
              <a:rPr lang="en-US" b="1" dirty="0"/>
              <a:t>c</a:t>
            </a:r>
            <a:r>
              <a:rPr lang="en-US" b="1" dirty="0" smtClean="0"/>
              <a:t>omparison (N </a:t>
            </a:r>
            <a:r>
              <a:rPr lang="en-US" b="1" dirty="0"/>
              <a:t>= </a:t>
            </a:r>
            <a:r>
              <a:rPr lang="en-US" b="1" dirty="0" smtClean="0"/>
              <a:t>35, k </a:t>
            </a:r>
            <a:r>
              <a:rPr lang="en-US" b="1" dirty="0"/>
              <a:t>= </a:t>
            </a:r>
            <a:r>
              <a:rPr lang="en-US" b="1" dirty="0" smtClean="0"/>
              <a:t>4):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Dense-Only: Hit </a:t>
            </a:r>
            <a:r>
              <a:rPr lang="en-US" b="1" dirty="0" smtClean="0"/>
              <a:t>Rate </a:t>
            </a:r>
            <a:r>
              <a:rPr lang="en-US" b="1" dirty="0"/>
              <a:t>= 94.3% </a:t>
            </a:r>
            <a:r>
              <a:rPr lang="en-US" b="1" dirty="0" smtClean="0"/>
              <a:t>(33/35), MRR </a:t>
            </a:r>
            <a:r>
              <a:rPr lang="en-US" b="1" dirty="0"/>
              <a:t>= 0.8524.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Sparse-Only: Hit </a:t>
            </a:r>
            <a:r>
              <a:rPr lang="en-US" b="1" dirty="0" smtClean="0"/>
              <a:t>Rate = </a:t>
            </a:r>
            <a:r>
              <a:rPr lang="en-US" b="1" dirty="0"/>
              <a:t>97.1% </a:t>
            </a:r>
            <a:r>
              <a:rPr lang="en-US" b="1" dirty="0" smtClean="0"/>
              <a:t>(34/35), MRR </a:t>
            </a:r>
            <a:r>
              <a:rPr lang="en-US" b="1" dirty="0"/>
              <a:t>= 0.8976.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Hybrid: Hit </a:t>
            </a:r>
            <a:r>
              <a:rPr lang="en-US" b="1" dirty="0" smtClean="0"/>
              <a:t>Rate </a:t>
            </a:r>
            <a:r>
              <a:rPr lang="en-US" b="1" dirty="0"/>
              <a:t>= 100.0% </a:t>
            </a:r>
            <a:r>
              <a:rPr lang="en-US" b="1" dirty="0" smtClean="0"/>
              <a:t>(35/35), MRR </a:t>
            </a:r>
            <a:r>
              <a:rPr lang="en-US" b="1" dirty="0"/>
              <a:t>= 0.9214.</a:t>
            </a:r>
            <a:endParaRPr lang="en-US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Key failure mode findings</a:t>
            </a:r>
            <a:r>
              <a:rPr lang="en-US" b="1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Dense </a:t>
            </a:r>
            <a:r>
              <a:rPr lang="en-US" b="1" dirty="0" smtClean="0"/>
              <a:t>retrieval limitations</a:t>
            </a:r>
            <a:r>
              <a:rPr lang="en-US" b="1" dirty="0"/>
              <a:t>: </a:t>
            </a:r>
            <a:r>
              <a:rPr lang="en-US" dirty="0" smtClean="0"/>
              <a:t>Failed on exact proper nouns and acronyms (e.g., "AFNOM" hacking club)  due to embedding space distance drift.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Sparse Retrieval Limitations: </a:t>
            </a:r>
            <a:r>
              <a:rPr lang="en-US" dirty="0" smtClean="0"/>
              <a:t>Failed on conceptual paraphrasing (e.g., Generative AI / </a:t>
            </a:r>
            <a:r>
              <a:rPr lang="en-US" dirty="0" err="1" smtClean="0"/>
              <a:t>ChatGPT</a:t>
            </a:r>
            <a:r>
              <a:rPr lang="en-US" dirty="0" smtClean="0"/>
              <a:t> policy query) due to vocabulary mismatch.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Hybrid </a:t>
            </a:r>
            <a:r>
              <a:rPr lang="en-US" b="1" dirty="0"/>
              <a:t>RRF Synergies: </a:t>
            </a:r>
            <a:r>
              <a:rPr lang="en-US" dirty="0"/>
              <a:t>Recovered all single-mode failure cases and elevated split-rank candidates to Rank 1.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60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7C48-2C50-5587-5B64-24F7CE23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91" y="437430"/>
            <a:ext cx="11476652" cy="478155"/>
          </a:xfrm>
        </p:spPr>
        <p:txBody>
          <a:bodyPr/>
          <a:lstStyle/>
          <a:p>
            <a:r>
              <a:rPr lang="en-US" sz="3600" dirty="0"/>
              <a:t>Quantitative RAGAS Benchmark </a:t>
            </a:r>
            <a:r>
              <a:rPr lang="en-US" sz="3600" dirty="0" smtClean="0"/>
              <a:t>and system performance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9116-DBB8-4101-FC45-CEDC7FD29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068043"/>
            <a:ext cx="10515600" cy="453032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End-to-End RAGAS Evaluation Results </a:t>
            </a:r>
            <a:r>
              <a:rPr lang="en-US" b="1" dirty="0" smtClean="0"/>
              <a:t>(N </a:t>
            </a:r>
            <a:r>
              <a:rPr lang="en-US" b="1" dirty="0"/>
              <a:t>= </a:t>
            </a:r>
            <a:r>
              <a:rPr lang="en-US" b="1" dirty="0" smtClean="0"/>
              <a:t>16$Queries</a:t>
            </a:r>
            <a:r>
              <a:rPr lang="en-US" b="1" dirty="0"/>
              <a:t>, 64 Judge Passes via llama-3.1-8b-instant</a:t>
            </a:r>
            <a:r>
              <a:rPr lang="en-US" b="1" dirty="0" smtClean="0"/>
              <a:t>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Context Recall: </a:t>
            </a:r>
            <a:r>
              <a:rPr lang="en-US" dirty="0" smtClean="0"/>
              <a:t>97.9% -  </a:t>
            </a:r>
            <a:r>
              <a:rPr lang="en-US" dirty="0"/>
              <a:t>Confirms necessary context is consistently extracted.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Context </a:t>
            </a:r>
            <a:r>
              <a:rPr lang="en-US" b="1" dirty="0" smtClean="0"/>
              <a:t>Precision: </a:t>
            </a:r>
            <a:r>
              <a:rPr lang="en-US" dirty="0" smtClean="0"/>
              <a:t>94.3% - Validates </a:t>
            </a:r>
            <a:r>
              <a:rPr lang="en-US" dirty="0"/>
              <a:t>effective noise chunk suppression.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Faithfulness: </a:t>
            </a:r>
            <a:r>
              <a:rPr lang="en-US" b="1" dirty="0" smtClean="0"/>
              <a:t>88.6% - </a:t>
            </a:r>
            <a:r>
              <a:rPr lang="en-US" dirty="0" smtClean="0"/>
              <a:t>Confirms </a:t>
            </a:r>
            <a:r>
              <a:rPr lang="en-US" dirty="0"/>
              <a:t>response generation remains strictly grounded in retrieved text.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Answer Relevancy: </a:t>
            </a:r>
            <a:r>
              <a:rPr lang="en-US" b="1" dirty="0" smtClean="0"/>
              <a:t>87.5% - </a:t>
            </a:r>
            <a:r>
              <a:rPr lang="en-US" dirty="0" smtClean="0"/>
              <a:t>Confirms </a:t>
            </a:r>
            <a:r>
              <a:rPr lang="en-US" dirty="0"/>
              <a:t>outputs directly address user prompts.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Runtime </a:t>
            </a:r>
            <a:r>
              <a:rPr lang="en-US" b="1" dirty="0" smtClean="0"/>
              <a:t>execution and </a:t>
            </a:r>
            <a:r>
              <a:rPr lang="en-US" b="1" dirty="0"/>
              <a:t>Hot </a:t>
            </a:r>
            <a:r>
              <a:rPr lang="en-US" b="1" dirty="0" smtClean="0"/>
              <a:t>tier promotion logs: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Successfully </a:t>
            </a:r>
            <a:r>
              <a:rPr lang="en-US" dirty="0"/>
              <a:t>initialized and indexed 171 corpus chunks into RAM BM25 memory. </a:t>
            </a:r>
            <a:endParaRPr lang="en-US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Verified automated dynamic promotion: C</a:t>
            </a:r>
            <a:r>
              <a:rPr lang="en-US" dirty="0" smtClean="0"/>
              <a:t>hunks from Handbook files were </a:t>
            </a:r>
            <a:r>
              <a:rPr lang="en-US" dirty="0"/>
              <a:t>promoted to </a:t>
            </a:r>
            <a:r>
              <a:rPr lang="en-US" dirty="0" smtClean="0"/>
              <a:t>Hot collection </a:t>
            </a:r>
            <a:r>
              <a:rPr lang="en-US" dirty="0"/>
              <a:t>after reaching 5 access hits</a:t>
            </a:r>
            <a:r>
              <a:rPr lang="en-US" dirty="0" smtClean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Cache hit</a:t>
            </a:r>
            <a:r>
              <a:rPr lang="en-US" b="1" dirty="0" smtClean="0"/>
              <a:t>: </a:t>
            </a:r>
            <a:r>
              <a:rPr lang="en-US" dirty="0" smtClean="0"/>
              <a:t>When similar or same query is asked, the system hits Cache and provides answer without extensive search through all database.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006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7C48-2C50-5587-5B64-24F7CE23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37430"/>
            <a:ext cx="10515600" cy="478155"/>
          </a:xfrm>
        </p:spPr>
        <p:txBody>
          <a:bodyPr/>
          <a:lstStyle/>
          <a:p>
            <a:r>
              <a:rPr lang="en-US" dirty="0" smtClean="0"/>
              <a:t>Operational limitations and future roadmap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9116-DBB8-4101-FC45-CEDC7FD29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068043"/>
            <a:ext cx="10515600" cy="4530324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System Limitations</a:t>
            </a:r>
            <a:r>
              <a:rPr lang="en-US" b="1" dirty="0" smtClean="0"/>
              <a:t>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Standard </a:t>
            </a:r>
            <a:r>
              <a:rPr lang="en-US" dirty="0"/>
              <a:t>equal-weight RRF </a:t>
            </a:r>
            <a:r>
              <a:rPr lang="en-US" dirty="0" smtClean="0"/>
              <a:t>(K=60) </a:t>
            </a:r>
            <a:r>
              <a:rPr lang="en-US" dirty="0"/>
              <a:t>can allow keyword repetition to cause minor rank displacement (e.g., target page pushed to Rank 2).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Potential middle-loss attention degradation in downstream LLMs when MRR drops to 0.5.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PyMuPDF</a:t>
            </a:r>
            <a:r>
              <a:rPr lang="en-US" dirty="0"/>
              <a:t> sequential parsing can fragment visual multi-column table layouts.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Layer 2 RAM dependency requires shared infrastructure for multi-node scaling.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Future work and </a:t>
            </a:r>
            <a:r>
              <a:rPr lang="en-US" b="1" dirty="0"/>
              <a:t>Research </a:t>
            </a:r>
            <a:r>
              <a:rPr lang="en-US" b="1" dirty="0" smtClean="0"/>
              <a:t>directions</a:t>
            </a:r>
            <a:r>
              <a:rPr lang="en-US" b="1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Implement adaptive RRF scoring paired with a cross-encoder </a:t>
            </a:r>
            <a:r>
              <a:rPr lang="en-US" dirty="0" smtClean="0"/>
              <a:t>re-ranker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Integrate </a:t>
            </a:r>
            <a:r>
              <a:rPr lang="en-US" dirty="0" err="1" smtClean="0"/>
              <a:t>GraphRAG</a:t>
            </a:r>
            <a:r>
              <a:rPr lang="en-US" dirty="0" smtClean="0"/>
              <a:t> to </a:t>
            </a:r>
            <a:r>
              <a:rPr lang="en-US" dirty="0"/>
              <a:t>map complex structural cross-references between university regulations.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Adopt </a:t>
            </a:r>
            <a:r>
              <a:rPr lang="en-US" dirty="0"/>
              <a:t>multimodal layout </a:t>
            </a:r>
            <a:r>
              <a:rPr lang="en-US" dirty="0" smtClean="0"/>
              <a:t>parsers </a:t>
            </a:r>
            <a:r>
              <a:rPr lang="en-US" dirty="0"/>
              <a:t>for tabular data extraction, </a:t>
            </a:r>
            <a:r>
              <a:rPr lang="en-US" dirty="0" smtClean="0"/>
              <a:t>allows to analyze </a:t>
            </a:r>
            <a:r>
              <a:rPr lang="en-US" dirty="0"/>
              <a:t>both visual bounding boxes and text tokens </a:t>
            </a:r>
            <a:r>
              <a:rPr lang="en-US" dirty="0" smtClean="0"/>
              <a:t>simultaneously.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Synchronize Layer 2 RAM indices across distributed </a:t>
            </a:r>
            <a:r>
              <a:rPr lang="en-US" dirty="0" smtClean="0"/>
              <a:t>nodes (for instance using </a:t>
            </a:r>
            <a:r>
              <a:rPr lang="en-US" dirty="0" err="1" smtClean="0"/>
              <a:t>Redis</a:t>
            </a:r>
            <a:r>
              <a:rPr lang="en-US" dirty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6535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8547440-A618-7AEC-306C-3528E637C3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3FFA32-A967-CD7B-E118-FC927974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Заголовок 3"/>
          <p:cNvSpPr txBox="1">
            <a:spLocks/>
          </p:cNvSpPr>
          <p:nvPr/>
        </p:nvSpPr>
        <p:spPr>
          <a:xfrm>
            <a:off x="1091682" y="51695"/>
            <a:ext cx="9246635" cy="534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1B1B1B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Screenshot of the System main page 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67" y="616109"/>
            <a:ext cx="11712955" cy="590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061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26" y="641048"/>
            <a:ext cx="8228665" cy="524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500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UOB">
  <a:themeElements>
    <a:clrScheme name="Custom 2">
      <a:dk1>
        <a:srgbClr val="000000"/>
      </a:dk1>
      <a:lt1>
        <a:srgbClr val="FFFFFF"/>
      </a:lt1>
      <a:dk2>
        <a:srgbClr val="C59A00"/>
      </a:dk2>
      <a:lt2>
        <a:srgbClr val="C20019"/>
      </a:lt2>
      <a:accent1>
        <a:srgbClr val="007838"/>
      </a:accent1>
      <a:accent2>
        <a:srgbClr val="00788E"/>
      </a:accent2>
      <a:accent3>
        <a:srgbClr val="0057BF"/>
      </a:accent3>
      <a:accent4>
        <a:srgbClr val="501D83"/>
      </a:accent4>
      <a:accent5>
        <a:srgbClr val="DB0061"/>
      </a:accent5>
      <a:accent6>
        <a:srgbClr val="CF4527"/>
      </a:accent6>
      <a:hlink>
        <a:srgbClr val="0057BF"/>
      </a:hlink>
      <a:folHlink>
        <a:srgbClr val="0057B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irmingham PPT 2026" id="{86EC31B4-B75D-434C-BEBB-768DD4211533}" vid="{B6E7CFB6-7E16-774A-90EA-9BA93C73CD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50DEE3A6EBAA4E903B9ED3648C9F13" ma:contentTypeVersion="4" ma:contentTypeDescription="Create a new document." ma:contentTypeScope="" ma:versionID="cd6fc4d99dc7a9737243d42af75c6207">
  <xsd:schema xmlns:xsd="http://www.w3.org/2001/XMLSchema" xmlns:xs="http://www.w3.org/2001/XMLSchema" xmlns:p="http://schemas.microsoft.com/office/2006/metadata/properties" xmlns:ns2="df0df12c-bf9d-4238-af7c-48738a5edba8" targetNamespace="http://schemas.microsoft.com/office/2006/metadata/properties" ma:root="true" ma:fieldsID="ca904c58ec2bf0f463152c6d1687919c" ns2:_="">
    <xsd:import namespace="df0df12c-bf9d-4238-af7c-48738a5edb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0df12c-bf9d-4238-af7c-48738a5edb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0ED7EE5-0FF4-4DD8-AD0D-2ECF8EBA0538}">
  <ds:schemaRefs>
    <ds:schemaRef ds:uri="http://www.w3.org/XML/1998/namespace"/>
    <ds:schemaRef ds:uri="http://purl.org/dc/terms/"/>
    <ds:schemaRef ds:uri="df0df12c-bf9d-4238-af7c-48738a5edba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E54C8D1B-70E6-4255-AAD5-2DB668A659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0df12c-bf9d-4238-af7c-48738a5edb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5B9FEDF-3C94-4E15-A14E-5854FED734C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1050</Words>
  <Application>Microsoft Office PowerPoint</Application>
  <PresentationFormat>Широкоэкранный</PresentationFormat>
  <Paragraphs>70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Times New Roman</vt:lpstr>
      <vt:lpstr>Arial</vt:lpstr>
      <vt:lpstr>UOB</vt:lpstr>
      <vt:lpstr>Citation grounded Retrieval system for interpreting academic University regulations.</vt:lpstr>
      <vt:lpstr>System overview</vt:lpstr>
      <vt:lpstr>Background and Motivation</vt:lpstr>
      <vt:lpstr>Research problem and hypotheses</vt:lpstr>
      <vt:lpstr>System architecture and Relational design</vt:lpstr>
      <vt:lpstr>The 3-Tier Hybrid retrieval engine</vt:lpstr>
      <vt:lpstr>Empirical results: Retrieval ablation experiment</vt:lpstr>
      <vt:lpstr>Quantitative RAGAS Benchmark and system performance</vt:lpstr>
      <vt:lpstr>Operational limitations and future roadmap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Citation grounded Retrieval system for interpreting academic University regulations.</dc:title>
  <dc:creator>Ed Pearson (Campaigns and Reputation)</dc:creator>
  <cp:lastModifiedBy>Eldar Dikhanbayev (MSc Computer Science FT)</cp:lastModifiedBy>
  <cp:revision>22</cp:revision>
  <dcterms:created xsi:type="dcterms:W3CDTF">2026-01-02T08:28:47Z</dcterms:created>
  <dcterms:modified xsi:type="dcterms:W3CDTF">2026-08-05T22:19:36Z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0x0101006A50DEE3A6EBAA4E903B9ED3648C9F13</vt:lpwstr>
  </property>
</Properties>
</file>